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Truly surviving %</c:v>
                </c:pt>
              </c:strCache>
            </c:strRef>
          </c:tx>
          <c:spPr>
            <a:solidFill>
              <a:srgbClr val="A3AEB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Sheet1!$A$2:$A$14</c:f>
              <c:multiLvlStrCache>
                <c:ptCount val="13"/>
                <c:lvl>
                  <c:pt idx="0">
                    <c:v>Proposal.docx</c:v>
                  </c:pt>
                  <c:pt idx="1">
                    <c:v>Report.pdf</c:v>
                  </c:pt>
                  <c:pt idx="2">
                    <c:v>Minutes.pdf</c:v>
                  </c:pt>
                  <c:pt idx="3">
                    <c:v>Invoice.pdf</c:v>
                  </c:pt>
                  <c:pt idx="4">
                    <c:v>Budget.docx</c:v>
                  </c:pt>
                  <c:pt idx="5">
                    <c:v>records.db</c:v>
                  </c:pt>
                  <c:pt idx="6">
                    <c:v>vacation.jpg</c:v>
                  </c:pt>
                  <c:pt idx="7">
                    <c:v>offsite.jpg</c:v>
                  </c:pt>
                  <c:pt idx="8">
                    <c:v>whiteboard.jpg</c:v>
                  </c:pt>
                  <c:pt idx="9">
                    <c:v>server_rack.jpg</c:v>
                  </c:pt>
                  <c:pt idx="10">
                    <c:v>unknown.bin</c:v>
                  </c:pt>
                  <c:pt idx="11">
                    <c:v>gateway.log</c:v>
                  </c:pt>
                  <c:pt idx="12">
                    <c:v>field_notes.txt</c:v>
                  </c:pt>
                </c:lvl>
              </c:multiLvlStrCache>
            </c:multiLvlStrRef>
          </c:cat>
          <c:val>
            <c:numRef>
              <c:f>Sheet1!$B$2:$B$14</c:f>
              <c:numCache>
                <c:formatCode>General</c:formatCode>
                <c:ptCount val="13"/>
                <c:pt idx="0">
                  <c:v>92.3</c:v>
                </c:pt>
                <c:pt idx="1">
                  <c:v>92.9</c:v>
                </c:pt>
                <c:pt idx="2">
                  <c:v>100</c:v>
                </c:pt>
                <c:pt idx="3">
                  <c:v>100</c:v>
                </c:pt>
                <c:pt idx="4">
                  <c:v>100</c:v>
                </c:pt>
                <c:pt idx="5">
                  <c:v>80</c:v>
                </c:pt>
                <c:pt idx="6">
                  <c:v>96.2</c:v>
                </c:pt>
                <c:pt idx="7">
                  <c:v>100</c:v>
                </c:pt>
                <c:pt idx="8">
                  <c:v>100</c:v>
                </c:pt>
                <c:pt idx="9">
                  <c:v>38.5</c:v>
                </c:pt>
                <c:pt idx="10">
                  <c:v>15.4</c:v>
                </c:pt>
                <c:pt idx="11">
                  <c:v>100</c:v>
                </c:pt>
                <c:pt idx="12">
                  <c:v>100</c:v>
                </c:pt>
              </c:numCache>
            </c:numRef>
          </c:val>
        </c:ser>
        <c:ser>
          <c:idx val="1"/>
          <c:order val="1"/>
          <c:tx>
            <c:strRef>
              <c:f>Sheet1!$C$1</c:f>
              <c:strCache>
                <c:ptCount val="1"/>
                <c:pt idx="0">
                  <c:v>Engine reconstruction %</c:v>
                </c:pt>
              </c:strCache>
            </c:strRef>
          </c:tx>
          <c:spPr>
            <a:solidFill>
              <a:srgbClr val="1FA99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Sheet1!$A$2:$A$14</c:f>
              <c:multiLvlStrCache>
                <c:ptCount val="13"/>
                <c:lvl>
                  <c:pt idx="0">
                    <c:v>Proposal.docx</c:v>
                  </c:pt>
                  <c:pt idx="1">
                    <c:v>Report.pdf</c:v>
                  </c:pt>
                  <c:pt idx="2">
                    <c:v>Minutes.pdf</c:v>
                  </c:pt>
                  <c:pt idx="3">
                    <c:v>Invoice.pdf</c:v>
                  </c:pt>
                  <c:pt idx="4">
                    <c:v>Budget.docx</c:v>
                  </c:pt>
                  <c:pt idx="5">
                    <c:v>records.db</c:v>
                  </c:pt>
                  <c:pt idx="6">
                    <c:v>vacation.jpg</c:v>
                  </c:pt>
                  <c:pt idx="7">
                    <c:v>offsite.jpg</c:v>
                  </c:pt>
                  <c:pt idx="8">
                    <c:v>whiteboard.jpg</c:v>
                  </c:pt>
                  <c:pt idx="9">
                    <c:v>server_rack.jpg</c:v>
                  </c:pt>
                  <c:pt idx="10">
                    <c:v>unknown.bin</c:v>
                  </c:pt>
                  <c:pt idx="11">
                    <c:v>gateway.log</c:v>
                  </c:pt>
                  <c:pt idx="12">
                    <c:v>field_notes.txt</c:v>
                  </c:pt>
                </c:lvl>
              </c:multiLvlStrCache>
            </c:multiLvlStrRef>
          </c:cat>
          <c:val>
            <c:numRef>
              <c:f>Sheet1!$C$2:$C$14</c:f>
              <c:numCache>
                <c:formatCode>General</c:formatCode>
                <c:ptCount val="13"/>
                <c:pt idx="0">
                  <c:v>68.8</c:v>
                </c:pt>
                <c:pt idx="1">
                  <c:v>92.5</c:v>
                </c:pt>
                <c:pt idx="2">
                  <c:v>100</c:v>
                </c:pt>
                <c:pt idx="3">
                  <c:v>100</c:v>
                </c:pt>
                <c:pt idx="4">
                  <c:v>100</c:v>
                </c:pt>
                <c:pt idx="5">
                  <c:v>80</c:v>
                </c:pt>
                <c:pt idx="6">
                  <c:v>92.1</c:v>
                </c:pt>
                <c:pt idx="7">
                  <c:v>100</c:v>
                </c:pt>
                <c:pt idx="8">
                  <c:v>100</c:v>
                </c:pt>
                <c:pt idx="9">
                  <c:v>5.3</c:v>
                </c:pt>
                <c:pt idx="10">
                  <c:v>15.8</c:v>
                </c:pt>
                <c:pt idx="11">
                  <c:v>100</c:v>
                </c:pt>
                <c:pt idx="12">
                  <c:v>30.7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73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4E9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73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RecoveryLens: a working prototype that takes a damaged storage image or a damaged file and explains what can be recovered, how trustworthy each result is, and what to look at first. The tagline is the design rule for the whole project: we never fabricate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gaps in existing tools. Fragmentation, silent damage, no prioritisation, and weak evidence handling. RecoveryLens is designed around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tools do find and recover. We do nine steps. Only the Relate step uses machine learning; everything that decides whether bytes are valid is a real parser. This keeps the output reproducible and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a ten-stage pipeline. The top row finds and groups data, the bottom row rebuilds, checks and explains it. Only the relationship model (orange) is learned. The API exposes every stage so the UI can show the evidence behind each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Trained on 14 generated images and tested on 5 held-out images. A JPEG join is accepted only at 70% or more; joins between 50 and 70% become leads for the analyst instead of being silently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page. KPIs at the top, a "Review first" list ordered by priority, and key findings that name the exact problems. Every demo screen is marked SIMULATED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68.8% of the bytes are located, yet integrity is 85.5 because the missing 16 KB belong to an embedded image; the document text itself passes CRC-32. This is the kind of nuance a normal undelete tool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makes the machine-learning step auditable. Nothing is hidden: rejected joins stay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recent development round. We added input-type detection, a nine-check PDF validator, a reason for every status, a repaired copy, and N/A-with-reason instead of blank metrics. A lower score here is a more honest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Per-file comparison from the USB demo run. Where the engine cannot verify bytes, it reports less than truly survives, never more: it is conservative by design. Bit flips in formats without checksums cannot be detected, and we report that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Uploads require an explicit "authorised to analyse" confirmation. Every action, including a change of priority criteria, is written to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size and test counts measured on 25 September 2026: 49 backend unit tests and 4 frontend tests, all passing. The core pipeline is complete; the remaining work is broader file-system support and production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state the limits openly, in the app and in the report. The next milestone is testing on real damaged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live demo: New analysis → Corrupted USB image, then open Project_Proposal_v3.docx and the relationship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4C"/>
        </a:solidFill>
      </p:bgPr>
    </p:bg>
    <p:spTree>
      <p:nvGrpSpPr>
        <p:cNvPr id="1" name=""/>
        <p:cNvGrpSpPr/>
        <p:nvPr/>
      </p:nvGrpSpPr>
      <p:grpSpPr>
        <a:xfrm>
          <a:off x="0" y="0"/>
          <a:ext cx="0" cy="0"/>
          <a:chOff x="0" y="0"/>
          <a:chExt cx="0" cy="0"/>
        </a:xfrm>
      </p:grpSpPr>
      <p:sp>
        <p:nvSpPr>
          <p:cNvPr id="2" name="Shape 0"/>
          <p:cNvSpPr/>
          <p:nvPr/>
        </p:nvSpPr>
        <p:spPr>
          <a:xfrm>
            <a:off x="731520" y="1097280"/>
            <a:ext cx="914400" cy="914400"/>
          </a:xfrm>
          <a:prstGeom prst="ellipse">
            <a:avLst/>
          </a:prstGeom>
          <a:solidFill>
            <a:srgbClr val="1FA99A"/>
          </a:solidFill>
          <a:ln w="12700">
            <a:solidFill>
              <a:srgbClr val="1FA99A"/>
            </a:solidFill>
            <a:prstDash val="solid"/>
          </a:ln>
        </p:spPr>
      </p:sp>
      <p:pic>
        <p:nvPicPr>
          <p:cNvPr id="3" name="Image 0" descr="preencoded.png">    </p:cNvPr>
          <p:cNvPicPr>
            <a:picLocks noChangeAspect="1"/>
          </p:cNvPicPr>
          <p:nvPr/>
        </p:nvPicPr>
        <p:blipFill>
          <a:blip r:embed="rId1"/>
          <a:stretch>
            <a:fillRect/>
          </a:stretch>
        </p:blipFill>
        <p:spPr>
          <a:xfrm>
            <a:off x="960120" y="1325880"/>
            <a:ext cx="457200" cy="457200"/>
          </a:xfrm>
          <a:prstGeom prst="rect">
            <a:avLst/>
          </a:prstGeom>
        </p:spPr>
      </p:pic>
      <p:sp>
        <p:nvSpPr>
          <p:cNvPr id="4" name="Text 1"/>
          <p:cNvSpPr txBox="1"/>
          <p:nvPr/>
        </p:nvSpPr>
        <p:spPr>
          <a:xfrm>
            <a:off x="731520" y="2240280"/>
            <a:ext cx="1005840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RecoveryLens</a:t>
            </a:r>
            <a:endParaRPr lang="en-US" sz="6000" dirty="0"/>
          </a:p>
        </p:txBody>
      </p:sp>
      <p:sp>
        <p:nvSpPr>
          <p:cNvPr id="5" name="Text 2"/>
          <p:cNvSpPr txBox="1"/>
          <p:nvPr/>
        </p:nvSpPr>
        <p:spPr>
          <a:xfrm>
            <a:off x="731520" y="3246120"/>
            <a:ext cx="10058400" cy="548640"/>
          </a:xfrm>
          <a:prstGeom prst="rect">
            <a:avLst/>
          </a:prstGeom>
          <a:noFill/>
          <a:ln/>
        </p:spPr>
        <p:txBody>
          <a:bodyPr wrap="square" lIns="0" tIns="0" rIns="0" bIns="0" rtlCol="0" anchor="ctr"/>
          <a:lstStyle/>
          <a:p>
            <a:pPr indent="0" marL="0">
              <a:buNone/>
            </a:pPr>
            <a:r>
              <a:rPr lang="en-US" sz="2400" dirty="0">
                <a:solidFill>
                  <a:srgbClr val="CFE7E4"/>
                </a:solidFill>
                <a:latin typeface="Calibri" pitchFamily="34" charset="0"/>
                <a:ea typeface="Calibri" pitchFamily="34" charset="-122"/>
                <a:cs typeface="Calibri" pitchFamily="34" charset="-120"/>
              </a:rPr>
              <a:t>AI-assisted data-recovery intelligence for damaged storage</a:t>
            </a:r>
            <a:endParaRPr lang="en-US" sz="2400" dirty="0"/>
          </a:p>
        </p:txBody>
      </p:sp>
      <p:sp>
        <p:nvSpPr>
          <p:cNvPr id="6" name="Text 3"/>
          <p:cNvSpPr txBox="1"/>
          <p:nvPr/>
        </p:nvSpPr>
        <p:spPr>
          <a:xfrm>
            <a:off x="731520" y="4023360"/>
            <a:ext cx="10515600" cy="457200"/>
          </a:xfrm>
          <a:prstGeom prst="rect">
            <a:avLst/>
          </a:prstGeom>
          <a:noFill/>
          <a:ln/>
        </p:spPr>
        <p:txBody>
          <a:bodyPr wrap="square" lIns="0" tIns="0" rIns="0" bIns="0" rtlCol="0" anchor="ctr"/>
          <a:lstStyle/>
          <a:p>
            <a:pPr indent="0" marL="0">
              <a:buNone/>
            </a:pPr>
            <a:r>
              <a:rPr lang="en-US" sz="1800" i="1" dirty="0">
                <a:solidFill>
                  <a:srgbClr val="F29A2E"/>
                </a:solidFill>
                <a:latin typeface="Calibri" pitchFamily="34" charset="0"/>
                <a:ea typeface="Calibri" pitchFamily="34" charset="-122"/>
                <a:cs typeface="Calibri" pitchFamily="34" charset="-120"/>
              </a:rPr>
              <a:t>Recover what exists.  Infer relationships carefully.  Never invent evidence.</a:t>
            </a:r>
            <a:endParaRPr lang="en-US" sz="1800" dirty="0"/>
          </a:p>
        </p:txBody>
      </p:sp>
      <p:sp>
        <p:nvSpPr>
          <p:cNvPr id="7" name="Text 4"/>
          <p:cNvSpPr txBox="1"/>
          <p:nvPr/>
        </p:nvSpPr>
        <p:spPr>
          <a:xfrm>
            <a:off x="731520" y="5943600"/>
            <a:ext cx="10515600" cy="365760"/>
          </a:xfrm>
          <a:prstGeom prst="rect">
            <a:avLst/>
          </a:prstGeom>
          <a:noFill/>
          <a:ln/>
        </p:spPr>
        <p:txBody>
          <a:bodyPr wrap="square" lIns="0" tIns="0" rIns="0" bIns="0" rtlCol="0" anchor="ctr"/>
          <a:lstStyle/>
          <a:p>
            <a:pPr indent="0" marL="0">
              <a:buNone/>
            </a:pPr>
            <a:r>
              <a:rPr lang="en-US" sz="1400" dirty="0">
                <a:solidFill>
                  <a:srgbClr val="A9C7CC"/>
                </a:solidFill>
                <a:latin typeface="Calibri" pitchFamily="34" charset="0"/>
                <a:ea typeface="Calibri" pitchFamily="34" charset="-122"/>
                <a:cs typeface="Calibri" pitchFamily="34" charset="-120"/>
              </a:rPr>
              <a:t>Project review for the judges  ·  Working prototype  ·  Status as of 25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The problem</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Classic recovery tools hand back files. They do not say whether those files can be trusted.</a:t>
            </a:r>
            <a:endParaRPr lang="en-US" sz="1600" dirty="0"/>
          </a:p>
        </p:txBody>
      </p:sp>
      <p:sp>
        <p:nvSpPr>
          <p:cNvPr id="4" name="Shape 2"/>
          <p:cNvSpPr/>
          <p:nvPr/>
        </p:nvSpPr>
        <p:spPr>
          <a:xfrm>
            <a:off x="548640" y="1828800"/>
            <a:ext cx="2606040" cy="3931920"/>
          </a:xfrm>
          <a:prstGeom prst="roundRect">
            <a:avLst>
              <a:gd name="adj" fmla="val 2807"/>
            </a:avLst>
          </a:prstGeom>
          <a:solidFill>
            <a:srgbClr val="F2F7F8"/>
          </a:solidFill>
          <a:ln w="12700">
            <a:solidFill>
              <a:srgbClr val="F2F7F8"/>
            </a:solidFill>
            <a:prstDash val="solid"/>
          </a:ln>
        </p:spPr>
      </p:sp>
      <p:sp>
        <p:nvSpPr>
          <p:cNvPr id="5" name="Shape 3"/>
          <p:cNvSpPr/>
          <p:nvPr/>
        </p:nvSpPr>
        <p:spPr>
          <a:xfrm>
            <a:off x="822960" y="2148840"/>
            <a:ext cx="822960" cy="822960"/>
          </a:xfrm>
          <a:prstGeom prst="ellipse">
            <a:avLst/>
          </a:prstGeom>
          <a:solidFill>
            <a:srgbClr val="1FA99A"/>
          </a:solidFill>
          <a:ln w="12700">
            <a:solidFill>
              <a:srgbClr val="1FA99A"/>
            </a:solidFill>
            <a:prstDash val="solid"/>
          </a:ln>
        </p:spPr>
      </p:sp>
      <p:pic>
        <p:nvPicPr>
          <p:cNvPr id="6" name="Image 0" descr="preencoded.png">    </p:cNvPr>
          <p:cNvPicPr>
            <a:picLocks noChangeAspect="1"/>
          </p:cNvPicPr>
          <p:nvPr/>
        </p:nvPicPr>
        <p:blipFill>
          <a:blip r:embed="rId1"/>
          <a:stretch>
            <a:fillRect/>
          </a:stretch>
        </p:blipFill>
        <p:spPr>
          <a:xfrm>
            <a:off x="1028700" y="2354580"/>
            <a:ext cx="411480" cy="411480"/>
          </a:xfrm>
          <a:prstGeom prst="rect">
            <a:avLst/>
          </a:prstGeom>
        </p:spPr>
      </p:pic>
      <p:sp>
        <p:nvSpPr>
          <p:cNvPr id="7" name="Text 4"/>
          <p:cNvSpPr txBox="1"/>
          <p:nvPr/>
        </p:nvSpPr>
        <p:spPr>
          <a:xfrm>
            <a:off x="822960" y="3200400"/>
            <a:ext cx="210312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Fragmented data</a:t>
            </a:r>
            <a:endParaRPr lang="en-US" sz="1900" dirty="0"/>
          </a:p>
        </p:txBody>
      </p:sp>
      <p:sp>
        <p:nvSpPr>
          <p:cNvPr id="8" name="Text 5"/>
          <p:cNvSpPr txBox="1"/>
          <p:nvPr/>
        </p:nvSpPr>
        <p:spPr>
          <a:xfrm>
            <a:off x="822960" y="3703320"/>
            <a:ext cx="2103120" cy="1828800"/>
          </a:xfrm>
          <a:prstGeom prst="rect">
            <a:avLst/>
          </a:prstGeom>
          <a:noFill/>
          <a:ln/>
        </p:spPr>
        <p:txBody>
          <a:bodyPr wrap="square" lIns="0" tIns="0" rIns="0" bIns="0" rtlCol="0" anchor="t"/>
          <a:lstStyle/>
          <a:p>
            <a:pPr indent="0" marL="0">
              <a:buNone/>
            </a:pPr>
            <a:r>
              <a:rPr lang="en-US" sz="1500" dirty="0">
                <a:solidFill>
                  <a:srgbClr val="1B2730"/>
                </a:solidFill>
                <a:latin typeface="Calibri" pitchFamily="34" charset="0"/>
                <a:ea typeface="Calibri" pitchFamily="34" charset="-122"/>
                <a:cs typeface="Calibri" pitchFamily="34" charset="-120"/>
              </a:rPr>
              <a:t>Deleted files are split across the disk. Tools guess which pieces belong together and rarely show why.</a:t>
            </a:r>
            <a:endParaRPr lang="en-US" sz="1500" dirty="0"/>
          </a:p>
        </p:txBody>
      </p:sp>
      <p:sp>
        <p:nvSpPr>
          <p:cNvPr id="9" name="Shape 6"/>
          <p:cNvSpPr/>
          <p:nvPr/>
        </p:nvSpPr>
        <p:spPr>
          <a:xfrm>
            <a:off x="3364992" y="1828800"/>
            <a:ext cx="2606040" cy="3931920"/>
          </a:xfrm>
          <a:prstGeom prst="roundRect">
            <a:avLst>
              <a:gd name="adj" fmla="val 2807"/>
            </a:avLst>
          </a:prstGeom>
          <a:solidFill>
            <a:srgbClr val="F2F7F8"/>
          </a:solidFill>
          <a:ln w="12700">
            <a:solidFill>
              <a:srgbClr val="F2F7F8"/>
            </a:solidFill>
            <a:prstDash val="solid"/>
          </a:ln>
        </p:spPr>
      </p:sp>
      <p:sp>
        <p:nvSpPr>
          <p:cNvPr id="10" name="Shape 7"/>
          <p:cNvSpPr/>
          <p:nvPr/>
        </p:nvSpPr>
        <p:spPr>
          <a:xfrm>
            <a:off x="3639312" y="2148840"/>
            <a:ext cx="822960" cy="822960"/>
          </a:xfrm>
          <a:prstGeom prst="ellipse">
            <a:avLst/>
          </a:prstGeom>
          <a:solidFill>
            <a:srgbClr val="F29A2E"/>
          </a:solidFill>
          <a:ln w="12700">
            <a:solidFill>
              <a:srgbClr val="F29A2E"/>
            </a:solidFill>
            <a:prstDash val="solid"/>
          </a:ln>
        </p:spPr>
      </p:sp>
      <p:pic>
        <p:nvPicPr>
          <p:cNvPr id="11" name="Image 1" descr="preencoded.png">    </p:cNvPr>
          <p:cNvPicPr>
            <a:picLocks noChangeAspect="1"/>
          </p:cNvPicPr>
          <p:nvPr/>
        </p:nvPicPr>
        <p:blipFill>
          <a:blip r:embed="rId2"/>
          <a:stretch>
            <a:fillRect/>
          </a:stretch>
        </p:blipFill>
        <p:spPr>
          <a:xfrm>
            <a:off x="3845052" y="2354580"/>
            <a:ext cx="411480" cy="411480"/>
          </a:xfrm>
          <a:prstGeom prst="rect">
            <a:avLst/>
          </a:prstGeom>
        </p:spPr>
      </p:pic>
      <p:sp>
        <p:nvSpPr>
          <p:cNvPr id="12" name="Text 8"/>
          <p:cNvSpPr txBox="1"/>
          <p:nvPr/>
        </p:nvSpPr>
        <p:spPr>
          <a:xfrm>
            <a:off x="3639312" y="3200400"/>
            <a:ext cx="210312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Silent damage</a:t>
            </a:r>
            <a:endParaRPr lang="en-US" sz="1900" dirty="0"/>
          </a:p>
        </p:txBody>
      </p:sp>
      <p:sp>
        <p:nvSpPr>
          <p:cNvPr id="13" name="Text 9"/>
          <p:cNvSpPr txBox="1"/>
          <p:nvPr/>
        </p:nvSpPr>
        <p:spPr>
          <a:xfrm>
            <a:off x="3639312" y="3703320"/>
            <a:ext cx="2103120" cy="1828800"/>
          </a:xfrm>
          <a:prstGeom prst="rect">
            <a:avLst/>
          </a:prstGeom>
          <a:noFill/>
          <a:ln/>
        </p:spPr>
        <p:txBody>
          <a:bodyPr wrap="square" lIns="0" tIns="0" rIns="0" bIns="0" rtlCol="0" anchor="t"/>
          <a:lstStyle/>
          <a:p>
            <a:pPr indent="0" marL="0">
              <a:buNone/>
            </a:pPr>
            <a:r>
              <a:rPr lang="en-US" sz="1500" dirty="0">
                <a:solidFill>
                  <a:srgbClr val="1B2730"/>
                </a:solidFill>
                <a:latin typeface="Calibri" pitchFamily="34" charset="0"/>
                <a:ea typeface="Calibri" pitchFamily="34" charset="-122"/>
                <a:cs typeface="Calibri" pitchFamily="34" charset="-120"/>
              </a:rPr>
              <a:t>Partly overwritten files are returned as if they were complete. The user finds out only when the file will not open.</a:t>
            </a:r>
            <a:endParaRPr lang="en-US" sz="1500" dirty="0"/>
          </a:p>
        </p:txBody>
      </p:sp>
      <p:sp>
        <p:nvSpPr>
          <p:cNvPr id="14" name="Shape 10"/>
          <p:cNvSpPr/>
          <p:nvPr/>
        </p:nvSpPr>
        <p:spPr>
          <a:xfrm>
            <a:off x="6181344" y="1828800"/>
            <a:ext cx="2606040" cy="3931920"/>
          </a:xfrm>
          <a:prstGeom prst="roundRect">
            <a:avLst>
              <a:gd name="adj" fmla="val 2807"/>
            </a:avLst>
          </a:prstGeom>
          <a:solidFill>
            <a:srgbClr val="F2F7F8"/>
          </a:solidFill>
          <a:ln w="12700">
            <a:solidFill>
              <a:srgbClr val="F2F7F8"/>
            </a:solidFill>
            <a:prstDash val="solid"/>
          </a:ln>
        </p:spPr>
      </p:sp>
      <p:sp>
        <p:nvSpPr>
          <p:cNvPr id="15" name="Shape 11"/>
          <p:cNvSpPr/>
          <p:nvPr/>
        </p:nvSpPr>
        <p:spPr>
          <a:xfrm>
            <a:off x="6455664" y="2148840"/>
            <a:ext cx="822960" cy="822960"/>
          </a:xfrm>
          <a:prstGeom prst="ellipse">
            <a:avLst/>
          </a:prstGeom>
          <a:solidFill>
            <a:srgbClr val="1FA99A"/>
          </a:solidFill>
          <a:ln w="12700">
            <a:solidFill>
              <a:srgbClr val="1FA99A"/>
            </a:solidFill>
            <a:prstDash val="solid"/>
          </a:ln>
        </p:spPr>
      </p:sp>
      <p:pic>
        <p:nvPicPr>
          <p:cNvPr id="16" name="Image 2" descr="preencoded.png">    </p:cNvPr>
          <p:cNvPicPr>
            <a:picLocks noChangeAspect="1"/>
          </p:cNvPicPr>
          <p:nvPr/>
        </p:nvPicPr>
        <p:blipFill>
          <a:blip r:embed="rId3"/>
          <a:stretch>
            <a:fillRect/>
          </a:stretch>
        </p:blipFill>
        <p:spPr>
          <a:xfrm>
            <a:off x="6661404" y="2354580"/>
            <a:ext cx="411480" cy="411480"/>
          </a:xfrm>
          <a:prstGeom prst="rect">
            <a:avLst/>
          </a:prstGeom>
        </p:spPr>
      </p:pic>
      <p:sp>
        <p:nvSpPr>
          <p:cNvPr id="17" name="Text 12"/>
          <p:cNvSpPr txBox="1"/>
          <p:nvPr/>
        </p:nvSpPr>
        <p:spPr>
          <a:xfrm>
            <a:off x="6455664" y="3200400"/>
            <a:ext cx="210312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No triage</a:t>
            </a:r>
            <a:endParaRPr lang="en-US" sz="1900" dirty="0"/>
          </a:p>
        </p:txBody>
      </p:sp>
      <p:sp>
        <p:nvSpPr>
          <p:cNvPr id="18" name="Text 13"/>
          <p:cNvSpPr txBox="1"/>
          <p:nvPr/>
        </p:nvSpPr>
        <p:spPr>
          <a:xfrm>
            <a:off x="6455664" y="3703320"/>
            <a:ext cx="2103120" cy="1828800"/>
          </a:xfrm>
          <a:prstGeom prst="rect">
            <a:avLst/>
          </a:prstGeom>
          <a:noFill/>
          <a:ln/>
        </p:spPr>
        <p:txBody>
          <a:bodyPr wrap="square" lIns="0" tIns="0" rIns="0" bIns="0" rtlCol="0" anchor="t"/>
          <a:lstStyle/>
          <a:p>
            <a:pPr indent="0" marL="0">
              <a:buNone/>
            </a:pPr>
            <a:r>
              <a:rPr lang="en-US" sz="1500" dirty="0">
                <a:solidFill>
                  <a:srgbClr val="1B2730"/>
                </a:solidFill>
                <a:latin typeface="Calibri" pitchFamily="34" charset="0"/>
                <a:ea typeface="Calibri" pitchFamily="34" charset="-122"/>
                <a:cs typeface="Calibri" pitchFamily="34" charset="-120"/>
              </a:rPr>
              <a:t>An investigator gets hundreds of files with nothing to say which ones matter or should be checked first.</a:t>
            </a:r>
            <a:endParaRPr lang="en-US" sz="1500" dirty="0"/>
          </a:p>
        </p:txBody>
      </p:sp>
      <p:sp>
        <p:nvSpPr>
          <p:cNvPr id="19" name="Shape 14"/>
          <p:cNvSpPr/>
          <p:nvPr/>
        </p:nvSpPr>
        <p:spPr>
          <a:xfrm>
            <a:off x="8997696" y="1828800"/>
            <a:ext cx="2606040" cy="3931920"/>
          </a:xfrm>
          <a:prstGeom prst="roundRect">
            <a:avLst>
              <a:gd name="adj" fmla="val 2807"/>
            </a:avLst>
          </a:prstGeom>
          <a:solidFill>
            <a:srgbClr val="F2F7F8"/>
          </a:solidFill>
          <a:ln w="12700">
            <a:solidFill>
              <a:srgbClr val="F2F7F8"/>
            </a:solidFill>
            <a:prstDash val="solid"/>
          </a:ln>
        </p:spPr>
      </p:sp>
      <p:sp>
        <p:nvSpPr>
          <p:cNvPr id="20" name="Shape 15"/>
          <p:cNvSpPr/>
          <p:nvPr/>
        </p:nvSpPr>
        <p:spPr>
          <a:xfrm>
            <a:off x="9272016" y="2148840"/>
            <a:ext cx="822960" cy="822960"/>
          </a:xfrm>
          <a:prstGeom prst="ellipse">
            <a:avLst/>
          </a:prstGeom>
          <a:solidFill>
            <a:srgbClr val="1FA99A"/>
          </a:solidFill>
          <a:ln w="12700">
            <a:solidFill>
              <a:srgbClr val="1FA99A"/>
            </a:solidFill>
            <a:prstDash val="solid"/>
          </a:ln>
        </p:spPr>
      </p:sp>
      <p:pic>
        <p:nvPicPr>
          <p:cNvPr id="21" name="Image 3" descr="preencoded.png">    </p:cNvPr>
          <p:cNvPicPr>
            <a:picLocks noChangeAspect="1"/>
          </p:cNvPicPr>
          <p:nvPr/>
        </p:nvPicPr>
        <p:blipFill>
          <a:blip r:embed="rId4"/>
          <a:stretch>
            <a:fillRect/>
          </a:stretch>
        </p:blipFill>
        <p:spPr>
          <a:xfrm>
            <a:off x="9477756" y="2354580"/>
            <a:ext cx="411480" cy="411480"/>
          </a:xfrm>
          <a:prstGeom prst="rect">
            <a:avLst/>
          </a:prstGeom>
        </p:spPr>
      </p:pic>
      <p:sp>
        <p:nvSpPr>
          <p:cNvPr id="22" name="Text 16"/>
          <p:cNvSpPr txBox="1"/>
          <p:nvPr/>
        </p:nvSpPr>
        <p:spPr>
          <a:xfrm>
            <a:off x="9272016" y="3200400"/>
            <a:ext cx="210312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Evidence risk</a:t>
            </a:r>
            <a:endParaRPr lang="en-US" sz="1900" dirty="0"/>
          </a:p>
        </p:txBody>
      </p:sp>
      <p:sp>
        <p:nvSpPr>
          <p:cNvPr id="23" name="Text 17"/>
          <p:cNvSpPr txBox="1"/>
          <p:nvPr/>
        </p:nvSpPr>
        <p:spPr>
          <a:xfrm>
            <a:off x="9272016" y="3703320"/>
            <a:ext cx="2103120" cy="1828800"/>
          </a:xfrm>
          <a:prstGeom prst="rect">
            <a:avLst/>
          </a:prstGeom>
          <a:noFill/>
          <a:ln/>
        </p:spPr>
        <p:txBody>
          <a:bodyPr wrap="square" lIns="0" tIns="0" rIns="0" bIns="0" rtlCol="0" anchor="t"/>
          <a:lstStyle/>
          <a:p>
            <a:pPr indent="0" marL="0">
              <a:buNone/>
            </a:pPr>
            <a:r>
              <a:rPr lang="en-US" sz="1500" dirty="0">
                <a:solidFill>
                  <a:srgbClr val="1B2730"/>
                </a:solidFill>
                <a:latin typeface="Calibri" pitchFamily="34" charset="0"/>
                <a:ea typeface="Calibri" pitchFamily="34" charset="-122"/>
                <a:cs typeface="Calibri" pitchFamily="34" charset="-120"/>
              </a:rPr>
              <a:t>In forensics, results must trace back to the original bytes and the evidence must stay unchanged.</a:t>
            </a:r>
            <a:endParaRPr lang="en-US" sz="1500" dirty="0"/>
          </a:p>
        </p:txBody>
      </p:sp>
      <p:sp>
        <p:nvSpPr>
          <p:cNvPr id="24" name="Text 18"/>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Our approach: understand before recovering</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We add seven steps between "find" and "recover", and every step leaves evidence behind.</a:t>
            </a:r>
            <a:endParaRPr lang="en-US" sz="1600" dirty="0"/>
          </a:p>
        </p:txBody>
      </p:sp>
      <p:sp>
        <p:nvSpPr>
          <p:cNvPr id="4" name="Text 2"/>
          <p:cNvSpPr txBox="1"/>
          <p:nvPr/>
        </p:nvSpPr>
        <p:spPr>
          <a:xfrm>
            <a:off x="548640" y="1783080"/>
            <a:ext cx="1828800" cy="365760"/>
          </a:xfrm>
          <a:prstGeom prst="rect">
            <a:avLst/>
          </a:prstGeom>
          <a:noFill/>
          <a:ln/>
        </p:spPr>
        <p:txBody>
          <a:bodyPr wrap="square" lIns="0" tIns="0" rIns="0" bIns="0" rtlCol="0" anchor="ctr"/>
          <a:lstStyle/>
          <a:p>
            <a:pPr indent="0" marL="0">
              <a:buNone/>
            </a:pPr>
            <a:r>
              <a:rPr lang="en-US" sz="1400" b="1" dirty="0">
                <a:solidFill>
                  <a:srgbClr val="5B6B75"/>
                </a:solidFill>
                <a:latin typeface="Calibri" pitchFamily="34" charset="0"/>
                <a:ea typeface="Calibri" pitchFamily="34" charset="-122"/>
                <a:cs typeface="Calibri" pitchFamily="34" charset="-120"/>
              </a:rPr>
              <a:t>Traditional</a:t>
            </a:r>
            <a:endParaRPr lang="en-US" sz="1400" dirty="0"/>
          </a:p>
        </p:txBody>
      </p:sp>
      <p:sp>
        <p:nvSpPr>
          <p:cNvPr id="5" name="Shape 3"/>
          <p:cNvSpPr/>
          <p:nvPr/>
        </p:nvSpPr>
        <p:spPr>
          <a:xfrm>
            <a:off x="2103120" y="1737360"/>
            <a:ext cx="1188720" cy="457200"/>
          </a:xfrm>
          <a:prstGeom prst="roundRect">
            <a:avLst>
              <a:gd name="adj" fmla="val 20000"/>
            </a:avLst>
          </a:prstGeom>
          <a:solidFill>
            <a:srgbClr val="E4E9EB"/>
          </a:solidFill>
          <a:ln w="12700">
            <a:solidFill>
              <a:srgbClr val="E4E9EB"/>
            </a:solidFill>
            <a:prstDash val="solid"/>
          </a:ln>
        </p:spPr>
      </p:sp>
      <p:sp>
        <p:nvSpPr>
          <p:cNvPr id="6" name="Text 4"/>
          <p:cNvSpPr txBox="1"/>
          <p:nvPr/>
        </p:nvSpPr>
        <p:spPr>
          <a:xfrm>
            <a:off x="2103120" y="1737360"/>
            <a:ext cx="1188720" cy="457200"/>
          </a:xfrm>
          <a:prstGeom prst="rect">
            <a:avLst/>
          </a:prstGeom>
          <a:noFill/>
          <a:ln/>
        </p:spPr>
        <p:txBody>
          <a:bodyPr wrap="square" lIns="0" tIns="0" rIns="0" bIns="0" rtlCol="0" anchor="ctr"/>
          <a:lstStyle/>
          <a:p>
            <a:pPr algn="ctr" indent="0" marL="0">
              <a:buNone/>
            </a:pPr>
            <a:r>
              <a:rPr lang="en-US" sz="1400" dirty="0">
                <a:solidFill>
                  <a:srgbClr val="5B6B75"/>
                </a:solidFill>
                <a:latin typeface="Calibri" pitchFamily="34" charset="0"/>
                <a:ea typeface="Calibri" pitchFamily="34" charset="-122"/>
                <a:cs typeface="Calibri" pitchFamily="34" charset="-120"/>
              </a:rPr>
              <a:t>Find</a:t>
            </a:r>
            <a:endParaRPr lang="en-US" sz="1400" dirty="0"/>
          </a:p>
        </p:txBody>
      </p:sp>
      <p:sp>
        <p:nvSpPr>
          <p:cNvPr id="7" name="Shape 5"/>
          <p:cNvSpPr/>
          <p:nvPr/>
        </p:nvSpPr>
        <p:spPr>
          <a:xfrm>
            <a:off x="3566160" y="1737360"/>
            <a:ext cx="1188720" cy="457200"/>
          </a:xfrm>
          <a:prstGeom prst="roundRect">
            <a:avLst>
              <a:gd name="adj" fmla="val 20000"/>
            </a:avLst>
          </a:prstGeom>
          <a:solidFill>
            <a:srgbClr val="E4E9EB"/>
          </a:solidFill>
          <a:ln w="12700">
            <a:solidFill>
              <a:srgbClr val="E4E9EB"/>
            </a:solidFill>
            <a:prstDash val="solid"/>
          </a:ln>
        </p:spPr>
      </p:sp>
      <p:sp>
        <p:nvSpPr>
          <p:cNvPr id="8" name="Text 6"/>
          <p:cNvSpPr txBox="1"/>
          <p:nvPr/>
        </p:nvSpPr>
        <p:spPr>
          <a:xfrm>
            <a:off x="3566160" y="1737360"/>
            <a:ext cx="1188720" cy="457200"/>
          </a:xfrm>
          <a:prstGeom prst="rect">
            <a:avLst/>
          </a:prstGeom>
          <a:noFill/>
          <a:ln/>
        </p:spPr>
        <p:txBody>
          <a:bodyPr wrap="square" lIns="0" tIns="0" rIns="0" bIns="0" rtlCol="0" anchor="ctr"/>
          <a:lstStyle/>
          <a:p>
            <a:pPr algn="ctr" indent="0" marL="0">
              <a:buNone/>
            </a:pPr>
            <a:r>
              <a:rPr lang="en-US" sz="1400" dirty="0">
                <a:solidFill>
                  <a:srgbClr val="5B6B75"/>
                </a:solidFill>
                <a:latin typeface="Calibri" pitchFamily="34" charset="0"/>
                <a:ea typeface="Calibri" pitchFamily="34" charset="-122"/>
                <a:cs typeface="Calibri" pitchFamily="34" charset="-120"/>
              </a:rPr>
              <a:t>Recover</a:t>
            </a:r>
            <a:endParaRPr lang="en-US" sz="1400" dirty="0"/>
          </a:p>
        </p:txBody>
      </p:sp>
      <p:sp>
        <p:nvSpPr>
          <p:cNvPr id="9" name="Text 7"/>
          <p:cNvSpPr txBox="1"/>
          <p:nvPr/>
        </p:nvSpPr>
        <p:spPr>
          <a:xfrm>
            <a:off x="548640" y="2606040"/>
            <a:ext cx="1828800" cy="365760"/>
          </a:xfrm>
          <a:prstGeom prst="rect">
            <a:avLst/>
          </a:prstGeom>
          <a:noFill/>
          <a:ln/>
        </p:spPr>
        <p:txBody>
          <a:bodyPr wrap="square" lIns="0" tIns="0" rIns="0" bIns="0" rtlCol="0" anchor="ctr"/>
          <a:lstStyle/>
          <a:p>
            <a:pPr indent="0" marL="0">
              <a:buNone/>
            </a:pPr>
            <a:r>
              <a:rPr lang="en-US" sz="1400" b="1" dirty="0">
                <a:solidFill>
                  <a:srgbClr val="0F3B4C"/>
                </a:solidFill>
                <a:latin typeface="Calibri" pitchFamily="34" charset="0"/>
                <a:ea typeface="Calibri" pitchFamily="34" charset="-122"/>
                <a:cs typeface="Calibri" pitchFamily="34" charset="-120"/>
              </a:rPr>
              <a:t>RecoveryLens</a:t>
            </a:r>
            <a:endParaRPr lang="en-US" sz="1400" dirty="0"/>
          </a:p>
        </p:txBody>
      </p:sp>
      <p:sp>
        <p:nvSpPr>
          <p:cNvPr id="10" name="Shape 8"/>
          <p:cNvSpPr/>
          <p:nvPr/>
        </p:nvSpPr>
        <p:spPr>
          <a:xfrm>
            <a:off x="2103120" y="2560320"/>
            <a:ext cx="1024128" cy="457200"/>
          </a:xfrm>
          <a:prstGeom prst="roundRect">
            <a:avLst>
              <a:gd name="adj" fmla="val 20000"/>
            </a:avLst>
          </a:prstGeom>
          <a:solidFill>
            <a:srgbClr val="1FA99A"/>
          </a:solidFill>
          <a:ln w="12700">
            <a:solidFill>
              <a:srgbClr val="1FA99A"/>
            </a:solidFill>
            <a:prstDash val="solid"/>
          </a:ln>
        </p:spPr>
      </p:sp>
      <p:sp>
        <p:nvSpPr>
          <p:cNvPr id="11" name="Text 9"/>
          <p:cNvSpPr txBox="1"/>
          <p:nvPr/>
        </p:nvSpPr>
        <p:spPr>
          <a:xfrm>
            <a:off x="2103120" y="2560320"/>
            <a:ext cx="10241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Find</a:t>
            </a:r>
            <a:endParaRPr lang="en-US" sz="1200" dirty="0"/>
          </a:p>
        </p:txBody>
      </p:sp>
      <p:sp>
        <p:nvSpPr>
          <p:cNvPr id="12" name="Shape 10"/>
          <p:cNvSpPr/>
          <p:nvPr/>
        </p:nvSpPr>
        <p:spPr>
          <a:xfrm>
            <a:off x="3218688" y="2560320"/>
            <a:ext cx="1024128" cy="457200"/>
          </a:xfrm>
          <a:prstGeom prst="roundRect">
            <a:avLst>
              <a:gd name="adj" fmla="val 20000"/>
            </a:avLst>
          </a:prstGeom>
          <a:solidFill>
            <a:srgbClr val="1FA99A"/>
          </a:solidFill>
          <a:ln w="12700">
            <a:solidFill>
              <a:srgbClr val="1FA99A"/>
            </a:solidFill>
            <a:prstDash val="solid"/>
          </a:ln>
        </p:spPr>
      </p:sp>
      <p:sp>
        <p:nvSpPr>
          <p:cNvPr id="13" name="Text 11"/>
          <p:cNvSpPr txBox="1"/>
          <p:nvPr/>
        </p:nvSpPr>
        <p:spPr>
          <a:xfrm>
            <a:off x="3218688" y="2560320"/>
            <a:ext cx="10241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Understand</a:t>
            </a:r>
            <a:endParaRPr lang="en-US" sz="1200" dirty="0"/>
          </a:p>
        </p:txBody>
      </p:sp>
      <p:sp>
        <p:nvSpPr>
          <p:cNvPr id="14" name="Shape 12"/>
          <p:cNvSpPr/>
          <p:nvPr/>
        </p:nvSpPr>
        <p:spPr>
          <a:xfrm>
            <a:off x="4334256" y="2560320"/>
            <a:ext cx="1024128" cy="457200"/>
          </a:xfrm>
          <a:prstGeom prst="roundRect">
            <a:avLst>
              <a:gd name="adj" fmla="val 20000"/>
            </a:avLst>
          </a:prstGeom>
          <a:solidFill>
            <a:srgbClr val="F29A2E"/>
          </a:solidFill>
          <a:ln w="12700">
            <a:solidFill>
              <a:srgbClr val="F29A2E"/>
            </a:solidFill>
            <a:prstDash val="solid"/>
          </a:ln>
        </p:spPr>
      </p:sp>
      <p:sp>
        <p:nvSpPr>
          <p:cNvPr id="15" name="Text 13"/>
          <p:cNvSpPr txBox="1"/>
          <p:nvPr/>
        </p:nvSpPr>
        <p:spPr>
          <a:xfrm>
            <a:off x="4334256" y="2560320"/>
            <a:ext cx="10241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Relate</a:t>
            </a:r>
            <a:endParaRPr lang="en-US" sz="1200" dirty="0"/>
          </a:p>
        </p:txBody>
      </p:sp>
      <p:sp>
        <p:nvSpPr>
          <p:cNvPr id="16" name="Shape 14"/>
          <p:cNvSpPr/>
          <p:nvPr/>
        </p:nvSpPr>
        <p:spPr>
          <a:xfrm>
            <a:off x="5449824" y="2560320"/>
            <a:ext cx="1024128" cy="457200"/>
          </a:xfrm>
          <a:prstGeom prst="roundRect">
            <a:avLst>
              <a:gd name="adj" fmla="val 20000"/>
            </a:avLst>
          </a:prstGeom>
          <a:solidFill>
            <a:srgbClr val="1FA99A"/>
          </a:solidFill>
          <a:ln w="12700">
            <a:solidFill>
              <a:srgbClr val="1FA99A"/>
            </a:solidFill>
            <a:prstDash val="solid"/>
          </a:ln>
        </p:spPr>
      </p:sp>
      <p:sp>
        <p:nvSpPr>
          <p:cNvPr id="17" name="Text 15"/>
          <p:cNvSpPr txBox="1"/>
          <p:nvPr/>
        </p:nvSpPr>
        <p:spPr>
          <a:xfrm>
            <a:off x="5449824" y="2560320"/>
            <a:ext cx="10241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Reconstruct</a:t>
            </a:r>
            <a:endParaRPr lang="en-US" sz="1200" dirty="0"/>
          </a:p>
        </p:txBody>
      </p:sp>
      <p:sp>
        <p:nvSpPr>
          <p:cNvPr id="18" name="Shape 16"/>
          <p:cNvSpPr/>
          <p:nvPr/>
        </p:nvSpPr>
        <p:spPr>
          <a:xfrm>
            <a:off x="6565392" y="2560320"/>
            <a:ext cx="1024128" cy="457200"/>
          </a:xfrm>
          <a:prstGeom prst="roundRect">
            <a:avLst>
              <a:gd name="adj" fmla="val 20000"/>
            </a:avLst>
          </a:prstGeom>
          <a:solidFill>
            <a:srgbClr val="1FA99A"/>
          </a:solidFill>
          <a:ln w="12700">
            <a:solidFill>
              <a:srgbClr val="1FA99A"/>
            </a:solidFill>
            <a:prstDash val="solid"/>
          </a:ln>
        </p:spPr>
      </p:sp>
      <p:sp>
        <p:nvSpPr>
          <p:cNvPr id="19" name="Text 17"/>
          <p:cNvSpPr txBox="1"/>
          <p:nvPr/>
        </p:nvSpPr>
        <p:spPr>
          <a:xfrm>
            <a:off x="6565392" y="2560320"/>
            <a:ext cx="10241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a:t>
            </a:r>
            <a:endParaRPr lang="en-US" sz="1200" dirty="0"/>
          </a:p>
        </p:txBody>
      </p:sp>
      <p:sp>
        <p:nvSpPr>
          <p:cNvPr id="20" name="Shape 18"/>
          <p:cNvSpPr/>
          <p:nvPr/>
        </p:nvSpPr>
        <p:spPr>
          <a:xfrm>
            <a:off x="7680960" y="2560320"/>
            <a:ext cx="1024128" cy="457200"/>
          </a:xfrm>
          <a:prstGeom prst="roundRect">
            <a:avLst>
              <a:gd name="adj" fmla="val 20000"/>
            </a:avLst>
          </a:prstGeom>
          <a:solidFill>
            <a:srgbClr val="1FA99A"/>
          </a:solidFill>
          <a:ln w="12700">
            <a:solidFill>
              <a:srgbClr val="1FA99A"/>
            </a:solidFill>
            <a:prstDash val="solid"/>
          </a:ln>
        </p:spPr>
      </p:sp>
      <p:sp>
        <p:nvSpPr>
          <p:cNvPr id="21" name="Text 19"/>
          <p:cNvSpPr txBox="1"/>
          <p:nvPr/>
        </p:nvSpPr>
        <p:spPr>
          <a:xfrm>
            <a:off x="7680960" y="2560320"/>
            <a:ext cx="10241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p>
        </p:txBody>
      </p:sp>
      <p:sp>
        <p:nvSpPr>
          <p:cNvPr id="22" name="Shape 20"/>
          <p:cNvSpPr/>
          <p:nvPr/>
        </p:nvSpPr>
        <p:spPr>
          <a:xfrm>
            <a:off x="8796528" y="2560320"/>
            <a:ext cx="1024128" cy="457200"/>
          </a:xfrm>
          <a:prstGeom prst="roundRect">
            <a:avLst>
              <a:gd name="adj" fmla="val 20000"/>
            </a:avLst>
          </a:prstGeom>
          <a:solidFill>
            <a:srgbClr val="1FA99A"/>
          </a:solidFill>
          <a:ln w="12700">
            <a:solidFill>
              <a:srgbClr val="1FA99A"/>
            </a:solidFill>
            <a:prstDash val="solid"/>
          </a:ln>
        </p:spPr>
      </p:sp>
      <p:sp>
        <p:nvSpPr>
          <p:cNvPr id="23" name="Text 21"/>
          <p:cNvSpPr txBox="1"/>
          <p:nvPr/>
        </p:nvSpPr>
        <p:spPr>
          <a:xfrm>
            <a:off x="8796528" y="2560320"/>
            <a:ext cx="10241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Classify</a:t>
            </a:r>
            <a:endParaRPr lang="en-US" sz="1200" dirty="0"/>
          </a:p>
        </p:txBody>
      </p:sp>
      <p:sp>
        <p:nvSpPr>
          <p:cNvPr id="24" name="Shape 22"/>
          <p:cNvSpPr/>
          <p:nvPr/>
        </p:nvSpPr>
        <p:spPr>
          <a:xfrm>
            <a:off x="9912096" y="2560320"/>
            <a:ext cx="1024128" cy="457200"/>
          </a:xfrm>
          <a:prstGeom prst="roundRect">
            <a:avLst>
              <a:gd name="adj" fmla="val 20000"/>
            </a:avLst>
          </a:prstGeom>
          <a:solidFill>
            <a:srgbClr val="1FA99A"/>
          </a:solidFill>
          <a:ln w="12700">
            <a:solidFill>
              <a:srgbClr val="1FA99A"/>
            </a:solidFill>
            <a:prstDash val="solid"/>
          </a:ln>
        </p:spPr>
      </p:sp>
      <p:sp>
        <p:nvSpPr>
          <p:cNvPr id="25" name="Text 23"/>
          <p:cNvSpPr txBox="1"/>
          <p:nvPr/>
        </p:nvSpPr>
        <p:spPr>
          <a:xfrm>
            <a:off x="9912096" y="2560320"/>
            <a:ext cx="10241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Prioritize</a:t>
            </a:r>
            <a:endParaRPr lang="en-US" sz="1200" dirty="0"/>
          </a:p>
        </p:txBody>
      </p:sp>
      <p:sp>
        <p:nvSpPr>
          <p:cNvPr id="26" name="Shape 24"/>
          <p:cNvSpPr/>
          <p:nvPr/>
        </p:nvSpPr>
        <p:spPr>
          <a:xfrm>
            <a:off x="11027664" y="2560320"/>
            <a:ext cx="1024128" cy="457200"/>
          </a:xfrm>
          <a:prstGeom prst="roundRect">
            <a:avLst>
              <a:gd name="adj" fmla="val 20000"/>
            </a:avLst>
          </a:prstGeom>
          <a:solidFill>
            <a:srgbClr val="1FA99A"/>
          </a:solidFill>
          <a:ln w="12700">
            <a:solidFill>
              <a:srgbClr val="1FA99A"/>
            </a:solidFill>
            <a:prstDash val="solid"/>
          </a:ln>
        </p:spPr>
      </p:sp>
      <p:sp>
        <p:nvSpPr>
          <p:cNvPr id="27" name="Text 25"/>
          <p:cNvSpPr txBox="1"/>
          <p:nvPr/>
        </p:nvSpPr>
        <p:spPr>
          <a:xfrm>
            <a:off x="11027664" y="2560320"/>
            <a:ext cx="102412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Explain</a:t>
            </a:r>
            <a:endParaRPr lang="en-US" sz="1200" dirty="0"/>
          </a:p>
        </p:txBody>
      </p:sp>
      <p:sp>
        <p:nvSpPr>
          <p:cNvPr id="28" name="Text 26"/>
          <p:cNvSpPr txBox="1"/>
          <p:nvPr/>
        </p:nvSpPr>
        <p:spPr>
          <a:xfrm>
            <a:off x="2103120" y="3108960"/>
            <a:ext cx="9601200" cy="320040"/>
          </a:xfrm>
          <a:prstGeom prst="rect">
            <a:avLst/>
          </a:prstGeom>
          <a:noFill/>
          <a:ln/>
        </p:spPr>
        <p:txBody>
          <a:bodyPr wrap="square" lIns="0" tIns="0" rIns="0" bIns="0" rtlCol="0" anchor="ctr"/>
          <a:lstStyle/>
          <a:p>
            <a:pPr indent="0" marL="0">
              <a:buNone/>
            </a:pPr>
            <a:r>
              <a:rPr lang="en-US" sz="1200" i="1" dirty="0">
                <a:solidFill>
                  <a:srgbClr val="5B6B75"/>
                </a:solidFill>
                <a:latin typeface="Calibri" pitchFamily="34" charset="0"/>
                <a:ea typeface="Calibri" pitchFamily="34" charset="-122"/>
                <a:cs typeface="Calibri" pitchFamily="34" charset="-120"/>
              </a:rPr>
              <a:t>Orange = machine-learning step. All other steps are deterministic parsers and rules.</a:t>
            </a:r>
            <a:endParaRPr lang="en-US" sz="1200" dirty="0"/>
          </a:p>
        </p:txBody>
      </p:sp>
      <p:sp>
        <p:nvSpPr>
          <p:cNvPr id="29" name="Shape 27"/>
          <p:cNvSpPr/>
          <p:nvPr/>
        </p:nvSpPr>
        <p:spPr>
          <a:xfrm>
            <a:off x="548640" y="3840480"/>
            <a:ext cx="3520440" cy="2331720"/>
          </a:xfrm>
          <a:prstGeom prst="roundRect">
            <a:avLst>
              <a:gd name="adj" fmla="val 3137"/>
            </a:avLst>
          </a:prstGeom>
          <a:solidFill>
            <a:srgbClr val="DDF2EF"/>
          </a:solidFill>
          <a:ln w="12700">
            <a:solidFill>
              <a:srgbClr val="DDF2EF"/>
            </a:solidFill>
            <a:prstDash val="solid"/>
          </a:ln>
        </p:spPr>
      </p:sp>
      <p:sp>
        <p:nvSpPr>
          <p:cNvPr id="30" name="Shape 28"/>
          <p:cNvSpPr/>
          <p:nvPr/>
        </p:nvSpPr>
        <p:spPr>
          <a:xfrm>
            <a:off x="822960" y="4114800"/>
            <a:ext cx="640080" cy="640080"/>
          </a:xfrm>
          <a:prstGeom prst="ellipse">
            <a:avLst/>
          </a:prstGeom>
          <a:solidFill>
            <a:srgbClr val="1FA99A"/>
          </a:solidFill>
          <a:ln w="12700">
            <a:solidFill>
              <a:srgbClr val="1FA99A"/>
            </a:solidFill>
            <a:prstDash val="solid"/>
          </a:ln>
        </p:spPr>
      </p:sp>
      <p:pic>
        <p:nvPicPr>
          <p:cNvPr id="31" name="Image 0" descr="preencoded.png">    </p:cNvPr>
          <p:cNvPicPr>
            <a:picLocks noChangeAspect="1"/>
          </p:cNvPicPr>
          <p:nvPr/>
        </p:nvPicPr>
        <p:blipFill>
          <a:blip r:embed="rId1"/>
          <a:stretch>
            <a:fillRect/>
          </a:stretch>
        </p:blipFill>
        <p:spPr>
          <a:xfrm>
            <a:off x="982980" y="4274820"/>
            <a:ext cx="320040" cy="320040"/>
          </a:xfrm>
          <a:prstGeom prst="rect">
            <a:avLst/>
          </a:prstGeom>
        </p:spPr>
      </p:pic>
      <p:sp>
        <p:nvSpPr>
          <p:cNvPr id="32" name="Text 29"/>
          <p:cNvSpPr txBox="1"/>
          <p:nvPr/>
        </p:nvSpPr>
        <p:spPr>
          <a:xfrm>
            <a:off x="1600200" y="4187952"/>
            <a:ext cx="2377440" cy="502920"/>
          </a:xfrm>
          <a:prstGeom prst="rect">
            <a:avLst/>
          </a:prstGeom>
          <a:noFill/>
          <a:ln/>
        </p:spPr>
        <p:txBody>
          <a:bodyPr wrap="square" lIns="0" tIns="0" rIns="0" bIns="0" rtlCol="0" anchor="ctr"/>
          <a:lstStyle/>
          <a:p>
            <a:pPr indent="0" marL="0">
              <a:buNone/>
            </a:pPr>
            <a:r>
              <a:rPr lang="en-US" sz="1800" b="1" dirty="0">
                <a:solidFill>
                  <a:srgbClr val="0F3B4C"/>
                </a:solidFill>
                <a:latin typeface="Arial" pitchFamily="34" charset="0"/>
                <a:ea typeface="Arial" pitchFamily="34" charset="-122"/>
                <a:cs typeface="Arial" pitchFamily="34" charset="-120"/>
              </a:rPr>
              <a:t>Recover what exists</a:t>
            </a:r>
            <a:endParaRPr lang="en-US" sz="1800" dirty="0"/>
          </a:p>
        </p:txBody>
      </p:sp>
      <p:sp>
        <p:nvSpPr>
          <p:cNvPr id="33" name="Text 30"/>
          <p:cNvSpPr txBox="1"/>
          <p:nvPr/>
        </p:nvSpPr>
        <p:spPr>
          <a:xfrm>
            <a:off x="822960" y="4937760"/>
            <a:ext cx="3017520" cy="1097280"/>
          </a:xfrm>
          <a:prstGeom prst="rect">
            <a:avLst/>
          </a:prstGeom>
          <a:noFill/>
          <a:ln/>
        </p:spPr>
        <p:txBody>
          <a:bodyPr wrap="square" lIns="0" tIns="0" rIns="0" bIns="0" rtlCol="0" anchor="t"/>
          <a:lstStyle/>
          <a:p>
            <a:pPr indent="0" marL="0">
              <a:buNone/>
            </a:pPr>
            <a:r>
              <a:rPr lang="en-US" sz="1400" dirty="0">
                <a:solidFill>
                  <a:srgbClr val="1B2730"/>
                </a:solidFill>
                <a:latin typeface="Calibri" pitchFamily="34" charset="0"/>
                <a:ea typeface="Calibri" pitchFamily="34" charset="-122"/>
                <a:cs typeface="Calibri" pitchFamily="34" charset="-120"/>
              </a:rPr>
              <a:t>Only bytes actually read from the evidence are used. Missing ranges are reported with exact offsets.</a:t>
            </a:r>
            <a:endParaRPr lang="en-US" sz="1400" dirty="0"/>
          </a:p>
        </p:txBody>
      </p:sp>
      <p:sp>
        <p:nvSpPr>
          <p:cNvPr id="34" name="Shape 31"/>
          <p:cNvSpPr/>
          <p:nvPr/>
        </p:nvSpPr>
        <p:spPr>
          <a:xfrm>
            <a:off x="4297680" y="3840480"/>
            <a:ext cx="3520440" cy="2331720"/>
          </a:xfrm>
          <a:prstGeom prst="roundRect">
            <a:avLst>
              <a:gd name="adj" fmla="val 3137"/>
            </a:avLst>
          </a:prstGeom>
          <a:solidFill>
            <a:srgbClr val="DDF2EF"/>
          </a:solidFill>
          <a:ln w="12700">
            <a:solidFill>
              <a:srgbClr val="DDF2EF"/>
            </a:solidFill>
            <a:prstDash val="solid"/>
          </a:ln>
        </p:spPr>
      </p:sp>
      <p:sp>
        <p:nvSpPr>
          <p:cNvPr id="35" name="Shape 32"/>
          <p:cNvSpPr/>
          <p:nvPr/>
        </p:nvSpPr>
        <p:spPr>
          <a:xfrm>
            <a:off x="4572000" y="4114800"/>
            <a:ext cx="640080" cy="640080"/>
          </a:xfrm>
          <a:prstGeom prst="ellipse">
            <a:avLst/>
          </a:prstGeom>
          <a:solidFill>
            <a:srgbClr val="1FA99A"/>
          </a:solidFill>
          <a:ln w="12700">
            <a:solidFill>
              <a:srgbClr val="1FA99A"/>
            </a:solidFill>
            <a:prstDash val="solid"/>
          </a:ln>
        </p:spPr>
      </p:sp>
      <p:pic>
        <p:nvPicPr>
          <p:cNvPr id="36" name="Image 1" descr="preencoded.png">    </p:cNvPr>
          <p:cNvPicPr>
            <a:picLocks noChangeAspect="1"/>
          </p:cNvPicPr>
          <p:nvPr/>
        </p:nvPicPr>
        <p:blipFill>
          <a:blip r:embed="rId2"/>
          <a:stretch>
            <a:fillRect/>
          </a:stretch>
        </p:blipFill>
        <p:spPr>
          <a:xfrm>
            <a:off x="4732020" y="4274820"/>
            <a:ext cx="320040" cy="320040"/>
          </a:xfrm>
          <a:prstGeom prst="rect">
            <a:avLst/>
          </a:prstGeom>
        </p:spPr>
      </p:pic>
      <p:sp>
        <p:nvSpPr>
          <p:cNvPr id="37" name="Text 33"/>
          <p:cNvSpPr txBox="1"/>
          <p:nvPr/>
        </p:nvSpPr>
        <p:spPr>
          <a:xfrm>
            <a:off x="5349240" y="4187952"/>
            <a:ext cx="2377440" cy="502920"/>
          </a:xfrm>
          <a:prstGeom prst="rect">
            <a:avLst/>
          </a:prstGeom>
          <a:noFill/>
          <a:ln/>
        </p:spPr>
        <p:txBody>
          <a:bodyPr wrap="square" lIns="0" tIns="0" rIns="0" bIns="0" rtlCol="0" anchor="ctr"/>
          <a:lstStyle/>
          <a:p>
            <a:pPr indent="0" marL="0">
              <a:buNone/>
            </a:pPr>
            <a:r>
              <a:rPr lang="en-US" sz="1800" b="1" dirty="0">
                <a:solidFill>
                  <a:srgbClr val="0F3B4C"/>
                </a:solidFill>
                <a:latin typeface="Arial" pitchFamily="34" charset="0"/>
                <a:ea typeface="Arial" pitchFamily="34" charset="-122"/>
                <a:cs typeface="Arial" pitchFamily="34" charset="-120"/>
              </a:rPr>
              <a:t>Infer carefully</a:t>
            </a:r>
            <a:endParaRPr lang="en-US" sz="1800" dirty="0"/>
          </a:p>
        </p:txBody>
      </p:sp>
      <p:sp>
        <p:nvSpPr>
          <p:cNvPr id="38" name="Text 34"/>
          <p:cNvSpPr txBox="1"/>
          <p:nvPr/>
        </p:nvSpPr>
        <p:spPr>
          <a:xfrm>
            <a:off x="4572000" y="4937760"/>
            <a:ext cx="3017520" cy="1097280"/>
          </a:xfrm>
          <a:prstGeom prst="rect">
            <a:avLst/>
          </a:prstGeom>
          <a:noFill/>
          <a:ln/>
        </p:spPr>
        <p:txBody>
          <a:bodyPr wrap="square" lIns="0" tIns="0" rIns="0" bIns="0" rtlCol="0" anchor="t"/>
          <a:lstStyle/>
          <a:p>
            <a:pPr indent="0" marL="0">
              <a:buNone/>
            </a:pPr>
            <a:r>
              <a:rPr lang="en-US" sz="1400" dirty="0">
                <a:solidFill>
                  <a:srgbClr val="1B2730"/>
                </a:solidFill>
                <a:latin typeface="Calibri" pitchFamily="34" charset="0"/>
                <a:ea typeface="Calibri" pitchFamily="34" charset="-122"/>
                <a:cs typeface="Calibri" pitchFamily="34" charset="-120"/>
              </a:rPr>
              <a:t>Fragment links are probabilities with their reasons shown. Rejected alternatives are kept for review.</a:t>
            </a:r>
            <a:endParaRPr lang="en-US" sz="1400" dirty="0"/>
          </a:p>
        </p:txBody>
      </p:sp>
      <p:sp>
        <p:nvSpPr>
          <p:cNvPr id="39" name="Shape 35"/>
          <p:cNvSpPr/>
          <p:nvPr/>
        </p:nvSpPr>
        <p:spPr>
          <a:xfrm>
            <a:off x="8046720" y="3840480"/>
            <a:ext cx="3520440" cy="2331720"/>
          </a:xfrm>
          <a:prstGeom prst="roundRect">
            <a:avLst>
              <a:gd name="adj" fmla="val 3137"/>
            </a:avLst>
          </a:prstGeom>
          <a:solidFill>
            <a:srgbClr val="FDEBD3"/>
          </a:solidFill>
          <a:ln w="12700">
            <a:solidFill>
              <a:srgbClr val="FDEBD3"/>
            </a:solidFill>
            <a:prstDash val="solid"/>
          </a:ln>
        </p:spPr>
      </p:sp>
      <p:sp>
        <p:nvSpPr>
          <p:cNvPr id="40" name="Shape 36"/>
          <p:cNvSpPr/>
          <p:nvPr/>
        </p:nvSpPr>
        <p:spPr>
          <a:xfrm>
            <a:off x="8321040" y="4114800"/>
            <a:ext cx="640080" cy="640080"/>
          </a:xfrm>
          <a:prstGeom prst="ellipse">
            <a:avLst/>
          </a:prstGeom>
          <a:solidFill>
            <a:srgbClr val="F29A2E"/>
          </a:solidFill>
          <a:ln w="12700">
            <a:solidFill>
              <a:srgbClr val="F29A2E"/>
            </a:solidFill>
            <a:prstDash val="solid"/>
          </a:ln>
        </p:spPr>
      </p:sp>
      <p:pic>
        <p:nvPicPr>
          <p:cNvPr id="41" name="Image 2" descr="preencoded.png">    </p:cNvPr>
          <p:cNvPicPr>
            <a:picLocks noChangeAspect="1"/>
          </p:cNvPicPr>
          <p:nvPr/>
        </p:nvPicPr>
        <p:blipFill>
          <a:blip r:embed="rId3"/>
          <a:stretch>
            <a:fillRect/>
          </a:stretch>
        </p:blipFill>
        <p:spPr>
          <a:xfrm>
            <a:off x="8481060" y="4274820"/>
            <a:ext cx="320040" cy="320040"/>
          </a:xfrm>
          <a:prstGeom prst="rect">
            <a:avLst/>
          </a:prstGeom>
        </p:spPr>
      </p:pic>
      <p:sp>
        <p:nvSpPr>
          <p:cNvPr id="42" name="Text 37"/>
          <p:cNvSpPr txBox="1"/>
          <p:nvPr/>
        </p:nvSpPr>
        <p:spPr>
          <a:xfrm>
            <a:off x="9098280" y="4187952"/>
            <a:ext cx="2377440" cy="502920"/>
          </a:xfrm>
          <a:prstGeom prst="rect">
            <a:avLst/>
          </a:prstGeom>
          <a:noFill/>
          <a:ln/>
        </p:spPr>
        <p:txBody>
          <a:bodyPr wrap="square" lIns="0" tIns="0" rIns="0" bIns="0" rtlCol="0" anchor="ctr"/>
          <a:lstStyle/>
          <a:p>
            <a:pPr indent="0" marL="0">
              <a:buNone/>
            </a:pPr>
            <a:r>
              <a:rPr lang="en-US" sz="1800" b="1" dirty="0">
                <a:solidFill>
                  <a:srgbClr val="0F3B4C"/>
                </a:solidFill>
                <a:latin typeface="Arial" pitchFamily="34" charset="0"/>
                <a:ea typeface="Arial" pitchFamily="34" charset="-122"/>
                <a:cs typeface="Arial" pitchFamily="34" charset="-120"/>
              </a:rPr>
              <a:t>Never invent evidence</a:t>
            </a:r>
            <a:endParaRPr lang="en-US" sz="1800" dirty="0"/>
          </a:p>
        </p:txBody>
      </p:sp>
      <p:sp>
        <p:nvSpPr>
          <p:cNvPr id="43" name="Text 38"/>
          <p:cNvSpPr txBox="1"/>
          <p:nvPr/>
        </p:nvSpPr>
        <p:spPr>
          <a:xfrm>
            <a:off x="8321040" y="4937760"/>
            <a:ext cx="3017520" cy="1097280"/>
          </a:xfrm>
          <a:prstGeom prst="rect">
            <a:avLst/>
          </a:prstGeom>
          <a:noFill/>
          <a:ln/>
        </p:spPr>
        <p:txBody>
          <a:bodyPr wrap="square" lIns="0" tIns="0" rIns="0" bIns="0" rtlCol="0" anchor="t"/>
          <a:lstStyle/>
          <a:p>
            <a:pPr indent="0" marL="0">
              <a:buNone/>
            </a:pPr>
            <a:r>
              <a:rPr lang="en-US" sz="1400" dirty="0">
                <a:solidFill>
                  <a:srgbClr val="1B2730"/>
                </a:solidFill>
                <a:latin typeface="Calibri" pitchFamily="34" charset="0"/>
                <a:ea typeface="Calibri" pitchFamily="34" charset="-122"/>
                <a:cs typeface="Calibri" pitchFamily="34" charset="-120"/>
              </a:rPr>
              <a:t>No generative filling. Explanations are built only from recorded checks, never from an LLM.</a:t>
            </a:r>
            <a:endParaRPr lang="en-US" sz="1400" dirty="0"/>
          </a:p>
        </p:txBody>
      </p:sp>
      <p:sp>
        <p:nvSpPr>
          <p:cNvPr id="44" name="Text 39"/>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System architecture</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A Python analysis engine behind a REST API, with a React web interface on top.</a:t>
            </a:r>
            <a:endParaRPr lang="en-US" sz="1600" dirty="0"/>
          </a:p>
        </p:txBody>
      </p:sp>
      <p:sp>
        <p:nvSpPr>
          <p:cNvPr id="4" name="Shape 2"/>
          <p:cNvSpPr/>
          <p:nvPr/>
        </p:nvSpPr>
        <p:spPr>
          <a:xfrm>
            <a:off x="548640" y="1691640"/>
            <a:ext cx="2011680" cy="1325880"/>
          </a:xfrm>
          <a:prstGeom prst="roundRect">
            <a:avLst>
              <a:gd name="adj" fmla="val 5517"/>
            </a:avLst>
          </a:prstGeom>
          <a:solidFill>
            <a:srgbClr val="F2F7F8"/>
          </a:solidFill>
          <a:ln w="12700">
            <a:solidFill>
              <a:srgbClr val="C9D6DA"/>
            </a:solidFill>
            <a:prstDash val="solid"/>
          </a:ln>
        </p:spPr>
      </p:sp>
      <p:sp>
        <p:nvSpPr>
          <p:cNvPr id="5" name="Text 3"/>
          <p:cNvSpPr txBox="1"/>
          <p:nvPr/>
        </p:nvSpPr>
        <p:spPr>
          <a:xfrm>
            <a:off x="685800" y="1828800"/>
            <a:ext cx="1737360" cy="365760"/>
          </a:xfrm>
          <a:prstGeom prst="rect">
            <a:avLst/>
          </a:prstGeom>
          <a:noFill/>
          <a:ln/>
        </p:spPr>
        <p:txBody>
          <a:bodyPr wrap="square" lIns="0" tIns="0" rIns="0" bIns="0" rtlCol="0" anchor="ctr"/>
          <a:lstStyle/>
          <a:p>
            <a:pPr indent="0" marL="0">
              <a:buNone/>
            </a:pPr>
            <a:r>
              <a:rPr lang="en-US" sz="1400" b="1" dirty="0">
                <a:solidFill>
                  <a:srgbClr val="0F3B4C"/>
                </a:solidFill>
                <a:latin typeface="Arial" pitchFamily="34" charset="0"/>
                <a:ea typeface="Arial" pitchFamily="34" charset="-122"/>
                <a:cs typeface="Arial" pitchFamily="34" charset="-120"/>
              </a:rPr>
              <a:t>Evidence intake</a:t>
            </a:r>
            <a:endParaRPr lang="en-US" sz="1400" dirty="0"/>
          </a:p>
        </p:txBody>
      </p:sp>
      <p:sp>
        <p:nvSpPr>
          <p:cNvPr id="6" name="Text 4"/>
          <p:cNvSpPr txBox="1"/>
          <p:nvPr/>
        </p:nvSpPr>
        <p:spPr>
          <a:xfrm>
            <a:off x="685800" y="2221992"/>
            <a:ext cx="1737360" cy="731520"/>
          </a:xfrm>
          <a:prstGeom prst="rect">
            <a:avLst/>
          </a:prstGeom>
          <a:noFill/>
          <a:ln/>
        </p:spPr>
        <p:txBody>
          <a:bodyPr wrap="square" lIns="0" tIns="0" rIns="0" bIns="0" rtlCol="0" anchor="t"/>
          <a:lstStyle/>
          <a:p>
            <a:pPr indent="0" marL="0">
              <a:buNone/>
            </a:pPr>
            <a:r>
              <a:rPr lang="en-US" sz="1200" dirty="0">
                <a:solidFill>
                  <a:srgbClr val="1B2730"/>
                </a:solidFill>
                <a:latin typeface="Calibri" pitchFamily="34" charset="0"/>
                <a:ea typeface="Calibri" pitchFamily="34" charset="-122"/>
                <a:cs typeface="Calibri" pitchFamily="34" charset="-120"/>
              </a:rPr>
              <a:t>Read-only copy, SHA-256 hash, input-type detection</a:t>
            </a:r>
            <a:endParaRPr lang="en-US" sz="1200" dirty="0"/>
          </a:p>
        </p:txBody>
      </p:sp>
      <p:sp>
        <p:nvSpPr>
          <p:cNvPr id="7" name="Shape 5"/>
          <p:cNvSpPr/>
          <p:nvPr/>
        </p:nvSpPr>
        <p:spPr>
          <a:xfrm>
            <a:off x="2587752" y="2354580"/>
            <a:ext cx="201168" cy="914"/>
          </a:xfrm>
          <a:prstGeom prst="line">
            <a:avLst/>
          </a:prstGeom>
          <a:noFill/>
          <a:ln w="25400">
            <a:solidFill>
              <a:srgbClr val="1FA99A"/>
            </a:solidFill>
            <a:prstDash val="solid"/>
            <a:tailEnd type="triangle"/>
          </a:ln>
        </p:spPr>
      </p:sp>
      <p:sp>
        <p:nvSpPr>
          <p:cNvPr id="8" name="Shape 6"/>
          <p:cNvSpPr/>
          <p:nvPr/>
        </p:nvSpPr>
        <p:spPr>
          <a:xfrm>
            <a:off x="2816352" y="1691640"/>
            <a:ext cx="2011680" cy="1325880"/>
          </a:xfrm>
          <a:prstGeom prst="roundRect">
            <a:avLst>
              <a:gd name="adj" fmla="val 5517"/>
            </a:avLst>
          </a:prstGeom>
          <a:solidFill>
            <a:srgbClr val="F2F7F8"/>
          </a:solidFill>
          <a:ln w="12700">
            <a:solidFill>
              <a:srgbClr val="C9D6DA"/>
            </a:solidFill>
            <a:prstDash val="solid"/>
          </a:ln>
        </p:spPr>
      </p:sp>
      <p:sp>
        <p:nvSpPr>
          <p:cNvPr id="9" name="Text 7"/>
          <p:cNvSpPr txBox="1"/>
          <p:nvPr/>
        </p:nvSpPr>
        <p:spPr>
          <a:xfrm>
            <a:off x="2953512" y="1828800"/>
            <a:ext cx="1737360" cy="365760"/>
          </a:xfrm>
          <a:prstGeom prst="rect">
            <a:avLst/>
          </a:prstGeom>
          <a:noFill/>
          <a:ln/>
        </p:spPr>
        <p:txBody>
          <a:bodyPr wrap="square" lIns="0" tIns="0" rIns="0" bIns="0" rtlCol="0" anchor="ctr"/>
          <a:lstStyle/>
          <a:p>
            <a:pPr indent="0" marL="0">
              <a:buNone/>
            </a:pPr>
            <a:r>
              <a:rPr lang="en-US" sz="1400" b="1" dirty="0">
                <a:solidFill>
                  <a:srgbClr val="0F3B4C"/>
                </a:solidFill>
                <a:latin typeface="Arial" pitchFamily="34" charset="0"/>
                <a:ea typeface="Arial" pitchFamily="34" charset="-122"/>
                <a:cs typeface="Arial" pitchFamily="34" charset="-120"/>
              </a:rPr>
              <a:t>Cluster scanner</a:t>
            </a:r>
            <a:endParaRPr lang="en-US" sz="1400" dirty="0"/>
          </a:p>
        </p:txBody>
      </p:sp>
      <p:sp>
        <p:nvSpPr>
          <p:cNvPr id="10" name="Text 8"/>
          <p:cNvSpPr txBox="1"/>
          <p:nvPr/>
        </p:nvSpPr>
        <p:spPr>
          <a:xfrm>
            <a:off x="2953512" y="2221992"/>
            <a:ext cx="1737360" cy="731520"/>
          </a:xfrm>
          <a:prstGeom prst="rect">
            <a:avLst/>
          </a:prstGeom>
          <a:noFill/>
          <a:ln/>
        </p:spPr>
        <p:txBody>
          <a:bodyPr wrap="square" lIns="0" tIns="0" rIns="0" bIns="0" rtlCol="0" anchor="t"/>
          <a:lstStyle/>
          <a:p>
            <a:pPr indent="0" marL="0">
              <a:buNone/>
            </a:pPr>
            <a:r>
              <a:rPr lang="en-US" sz="1200" dirty="0">
                <a:solidFill>
                  <a:srgbClr val="1B2730"/>
                </a:solidFill>
                <a:latin typeface="Calibri" pitchFamily="34" charset="0"/>
                <a:ea typeface="Calibri" pitchFamily="34" charset="-122"/>
                <a:cs typeface="Calibri" pitchFamily="34" charset="-120"/>
              </a:rPr>
              <a:t>Entropy, signatures, headers, FAT/VFAT entries per 4 KiB</a:t>
            </a:r>
            <a:endParaRPr lang="en-US" sz="1200" dirty="0"/>
          </a:p>
        </p:txBody>
      </p:sp>
      <p:sp>
        <p:nvSpPr>
          <p:cNvPr id="11" name="Shape 9"/>
          <p:cNvSpPr/>
          <p:nvPr/>
        </p:nvSpPr>
        <p:spPr>
          <a:xfrm>
            <a:off x="4855464" y="2354580"/>
            <a:ext cx="201168" cy="914"/>
          </a:xfrm>
          <a:prstGeom prst="line">
            <a:avLst/>
          </a:prstGeom>
          <a:noFill/>
          <a:ln w="25400">
            <a:solidFill>
              <a:srgbClr val="1FA99A"/>
            </a:solidFill>
            <a:prstDash val="solid"/>
            <a:tailEnd type="triangle"/>
          </a:ln>
        </p:spPr>
      </p:sp>
      <p:sp>
        <p:nvSpPr>
          <p:cNvPr id="12" name="Shape 10"/>
          <p:cNvSpPr/>
          <p:nvPr/>
        </p:nvSpPr>
        <p:spPr>
          <a:xfrm>
            <a:off x="5084064" y="1691640"/>
            <a:ext cx="2011680" cy="1325880"/>
          </a:xfrm>
          <a:prstGeom prst="roundRect">
            <a:avLst>
              <a:gd name="adj" fmla="val 5517"/>
            </a:avLst>
          </a:prstGeom>
          <a:solidFill>
            <a:srgbClr val="F2F7F8"/>
          </a:solidFill>
          <a:ln w="12700">
            <a:solidFill>
              <a:srgbClr val="C9D6DA"/>
            </a:solidFill>
            <a:prstDash val="solid"/>
          </a:ln>
        </p:spPr>
      </p:sp>
      <p:sp>
        <p:nvSpPr>
          <p:cNvPr id="13" name="Text 11"/>
          <p:cNvSpPr txBox="1"/>
          <p:nvPr/>
        </p:nvSpPr>
        <p:spPr>
          <a:xfrm>
            <a:off x="5221224" y="1828800"/>
            <a:ext cx="1737360" cy="365760"/>
          </a:xfrm>
          <a:prstGeom prst="rect">
            <a:avLst/>
          </a:prstGeom>
          <a:noFill/>
          <a:ln/>
        </p:spPr>
        <p:txBody>
          <a:bodyPr wrap="square" lIns="0" tIns="0" rIns="0" bIns="0" rtlCol="0" anchor="ctr"/>
          <a:lstStyle/>
          <a:p>
            <a:pPr indent="0" marL="0">
              <a:buNone/>
            </a:pPr>
            <a:r>
              <a:rPr lang="en-US" sz="1400" b="1" dirty="0">
                <a:solidFill>
                  <a:srgbClr val="0F3B4C"/>
                </a:solidFill>
                <a:latin typeface="Arial" pitchFamily="34" charset="0"/>
                <a:ea typeface="Arial" pitchFamily="34" charset="-122"/>
                <a:cs typeface="Arial" pitchFamily="34" charset="-120"/>
              </a:rPr>
              <a:t>Fragments</a:t>
            </a:r>
            <a:endParaRPr lang="en-US" sz="1400" dirty="0"/>
          </a:p>
        </p:txBody>
      </p:sp>
      <p:sp>
        <p:nvSpPr>
          <p:cNvPr id="14" name="Text 12"/>
          <p:cNvSpPr txBox="1"/>
          <p:nvPr/>
        </p:nvSpPr>
        <p:spPr>
          <a:xfrm>
            <a:off x="5221224" y="2221992"/>
            <a:ext cx="1737360" cy="731520"/>
          </a:xfrm>
          <a:prstGeom prst="rect">
            <a:avLst/>
          </a:prstGeom>
          <a:noFill/>
          <a:ln/>
        </p:spPr>
        <p:txBody>
          <a:bodyPr wrap="square" lIns="0" tIns="0" rIns="0" bIns="0" rtlCol="0" anchor="t"/>
          <a:lstStyle/>
          <a:p>
            <a:pPr indent="0" marL="0">
              <a:buNone/>
            </a:pPr>
            <a:r>
              <a:rPr lang="en-US" sz="1200" dirty="0">
                <a:solidFill>
                  <a:srgbClr val="1B2730"/>
                </a:solidFill>
                <a:latin typeface="Calibri" pitchFamily="34" charset="0"/>
                <a:ea typeface="Calibri" pitchFamily="34" charset="-122"/>
                <a:cs typeface="Calibri" pitchFamily="34" charset="-120"/>
              </a:rPr>
              <a:t>Split into runs of the same content family</a:t>
            </a:r>
            <a:endParaRPr lang="en-US" sz="1200" dirty="0"/>
          </a:p>
        </p:txBody>
      </p:sp>
      <p:sp>
        <p:nvSpPr>
          <p:cNvPr id="15" name="Shape 13"/>
          <p:cNvSpPr/>
          <p:nvPr/>
        </p:nvSpPr>
        <p:spPr>
          <a:xfrm>
            <a:off x="7123176" y="2354580"/>
            <a:ext cx="201168" cy="914"/>
          </a:xfrm>
          <a:prstGeom prst="line">
            <a:avLst/>
          </a:prstGeom>
          <a:noFill/>
          <a:ln w="25400">
            <a:solidFill>
              <a:srgbClr val="1FA99A"/>
            </a:solidFill>
            <a:prstDash val="solid"/>
            <a:tailEnd type="triangle"/>
          </a:ln>
        </p:spPr>
      </p:sp>
      <p:sp>
        <p:nvSpPr>
          <p:cNvPr id="16" name="Shape 14"/>
          <p:cNvSpPr/>
          <p:nvPr/>
        </p:nvSpPr>
        <p:spPr>
          <a:xfrm>
            <a:off x="7351776" y="1691640"/>
            <a:ext cx="2011680" cy="1325880"/>
          </a:xfrm>
          <a:prstGeom prst="roundRect">
            <a:avLst>
              <a:gd name="adj" fmla="val 5517"/>
            </a:avLst>
          </a:prstGeom>
          <a:solidFill>
            <a:srgbClr val="F2F7F8"/>
          </a:solidFill>
          <a:ln w="12700">
            <a:solidFill>
              <a:srgbClr val="C9D6DA"/>
            </a:solidFill>
            <a:prstDash val="solid"/>
          </a:ln>
        </p:spPr>
      </p:sp>
      <p:sp>
        <p:nvSpPr>
          <p:cNvPr id="17" name="Text 15"/>
          <p:cNvSpPr txBox="1"/>
          <p:nvPr/>
        </p:nvSpPr>
        <p:spPr>
          <a:xfrm>
            <a:off x="7488936" y="1828800"/>
            <a:ext cx="1737360" cy="365760"/>
          </a:xfrm>
          <a:prstGeom prst="rect">
            <a:avLst/>
          </a:prstGeom>
          <a:noFill/>
          <a:ln/>
        </p:spPr>
        <p:txBody>
          <a:bodyPr wrap="square" lIns="0" tIns="0" rIns="0" bIns="0" rtlCol="0" anchor="ctr"/>
          <a:lstStyle/>
          <a:p>
            <a:pPr indent="0" marL="0">
              <a:buNone/>
            </a:pPr>
            <a:r>
              <a:rPr lang="en-US" sz="1400" b="1" dirty="0">
                <a:solidFill>
                  <a:srgbClr val="0F3B4C"/>
                </a:solidFill>
                <a:latin typeface="Arial" pitchFamily="34" charset="0"/>
                <a:ea typeface="Arial" pitchFamily="34" charset="-122"/>
                <a:cs typeface="Arial" pitchFamily="34" charset="-120"/>
              </a:rPr>
              <a:t>File structure</a:t>
            </a:r>
            <a:endParaRPr lang="en-US" sz="1400" dirty="0"/>
          </a:p>
        </p:txBody>
      </p:sp>
      <p:sp>
        <p:nvSpPr>
          <p:cNvPr id="18" name="Text 16"/>
          <p:cNvSpPr txBox="1"/>
          <p:nvPr/>
        </p:nvSpPr>
        <p:spPr>
          <a:xfrm>
            <a:off x="7488936" y="2221992"/>
            <a:ext cx="1737360" cy="731520"/>
          </a:xfrm>
          <a:prstGeom prst="rect">
            <a:avLst/>
          </a:prstGeom>
          <a:noFill/>
          <a:ln/>
        </p:spPr>
        <p:txBody>
          <a:bodyPr wrap="square" lIns="0" tIns="0" rIns="0" bIns="0" rtlCol="0" anchor="t"/>
          <a:lstStyle/>
          <a:p>
            <a:pPr indent="0" marL="0">
              <a:buNone/>
            </a:pPr>
            <a:r>
              <a:rPr lang="en-US" sz="1200" dirty="0">
                <a:solidFill>
                  <a:srgbClr val="1B2730"/>
                </a:solidFill>
                <a:latin typeface="Calibri" pitchFamily="34" charset="0"/>
                <a:ea typeface="Calibri" pitchFamily="34" charset="-122"/>
                <a:cs typeface="Calibri" pitchFamily="34" charset="-120"/>
              </a:rPr>
              <a:t>xref, ZIP directory, SQLite b-tree; EXIF and names</a:t>
            </a:r>
            <a:endParaRPr lang="en-US" sz="1200" dirty="0"/>
          </a:p>
        </p:txBody>
      </p:sp>
      <p:sp>
        <p:nvSpPr>
          <p:cNvPr id="19" name="Shape 17"/>
          <p:cNvSpPr/>
          <p:nvPr/>
        </p:nvSpPr>
        <p:spPr>
          <a:xfrm>
            <a:off x="9390888" y="2354580"/>
            <a:ext cx="201168" cy="914"/>
          </a:xfrm>
          <a:prstGeom prst="line">
            <a:avLst/>
          </a:prstGeom>
          <a:noFill/>
          <a:ln w="25400">
            <a:solidFill>
              <a:srgbClr val="1FA99A"/>
            </a:solidFill>
            <a:prstDash val="solid"/>
            <a:tailEnd type="triangle"/>
          </a:ln>
        </p:spPr>
      </p:sp>
      <p:sp>
        <p:nvSpPr>
          <p:cNvPr id="20" name="Shape 18"/>
          <p:cNvSpPr/>
          <p:nvPr/>
        </p:nvSpPr>
        <p:spPr>
          <a:xfrm>
            <a:off x="9619488" y="1691640"/>
            <a:ext cx="2011680" cy="1325880"/>
          </a:xfrm>
          <a:prstGeom prst="roundRect">
            <a:avLst>
              <a:gd name="adj" fmla="val 5517"/>
            </a:avLst>
          </a:prstGeom>
          <a:solidFill>
            <a:srgbClr val="FDEBD3"/>
          </a:solidFill>
          <a:ln w="12700">
            <a:solidFill>
              <a:srgbClr val="F29A2E"/>
            </a:solidFill>
            <a:prstDash val="solid"/>
          </a:ln>
        </p:spPr>
      </p:sp>
      <p:sp>
        <p:nvSpPr>
          <p:cNvPr id="21" name="Text 19"/>
          <p:cNvSpPr txBox="1"/>
          <p:nvPr/>
        </p:nvSpPr>
        <p:spPr>
          <a:xfrm>
            <a:off x="9756648" y="1828800"/>
            <a:ext cx="1737360" cy="365760"/>
          </a:xfrm>
          <a:prstGeom prst="rect">
            <a:avLst/>
          </a:prstGeom>
          <a:noFill/>
          <a:ln/>
        </p:spPr>
        <p:txBody>
          <a:bodyPr wrap="square" lIns="0" tIns="0" rIns="0" bIns="0" rtlCol="0" anchor="ctr"/>
          <a:lstStyle/>
          <a:p>
            <a:pPr indent="0" marL="0">
              <a:buNone/>
            </a:pPr>
            <a:r>
              <a:rPr lang="en-US" sz="1400" b="1" dirty="0">
                <a:solidFill>
                  <a:srgbClr val="0F3B4C"/>
                </a:solidFill>
                <a:latin typeface="Arial" pitchFamily="34" charset="0"/>
                <a:ea typeface="Arial" pitchFamily="34" charset="-122"/>
                <a:cs typeface="Arial" pitchFamily="34" charset="-120"/>
              </a:rPr>
              <a:t>Relationship model</a:t>
            </a:r>
            <a:endParaRPr lang="en-US" sz="1400" dirty="0"/>
          </a:p>
        </p:txBody>
      </p:sp>
      <p:sp>
        <p:nvSpPr>
          <p:cNvPr id="22" name="Text 20"/>
          <p:cNvSpPr txBox="1"/>
          <p:nvPr/>
        </p:nvSpPr>
        <p:spPr>
          <a:xfrm>
            <a:off x="9756648" y="2221992"/>
            <a:ext cx="1737360" cy="731520"/>
          </a:xfrm>
          <a:prstGeom prst="rect">
            <a:avLst/>
          </a:prstGeom>
          <a:noFill/>
          <a:ln/>
        </p:spPr>
        <p:txBody>
          <a:bodyPr wrap="square" lIns="0" tIns="0" rIns="0" bIns="0" rtlCol="0" anchor="t"/>
          <a:lstStyle/>
          <a:p>
            <a:pPr indent="0" marL="0">
              <a:buNone/>
            </a:pPr>
            <a:r>
              <a:rPr lang="en-US" sz="1200" dirty="0">
                <a:solidFill>
                  <a:srgbClr val="1B2730"/>
                </a:solidFill>
                <a:latin typeface="Calibri" pitchFamily="34" charset="0"/>
                <a:ea typeface="Calibri" pitchFamily="34" charset="-122"/>
                <a:cs typeface="Calibri" pitchFamily="34" charset="-120"/>
              </a:rPr>
              <a:t>Logistic model over 9 explainable features</a:t>
            </a:r>
            <a:endParaRPr lang="en-US" sz="1200" dirty="0"/>
          </a:p>
        </p:txBody>
      </p:sp>
      <p:sp>
        <p:nvSpPr>
          <p:cNvPr id="23" name="Shape 21"/>
          <p:cNvSpPr/>
          <p:nvPr/>
        </p:nvSpPr>
        <p:spPr>
          <a:xfrm>
            <a:off x="9619488" y="3520440"/>
            <a:ext cx="2011680" cy="1325880"/>
          </a:xfrm>
          <a:prstGeom prst="roundRect">
            <a:avLst>
              <a:gd name="adj" fmla="val 5517"/>
            </a:avLst>
          </a:prstGeom>
          <a:solidFill>
            <a:srgbClr val="F2F7F8"/>
          </a:solidFill>
          <a:ln w="12700">
            <a:solidFill>
              <a:srgbClr val="C9D6DA"/>
            </a:solidFill>
            <a:prstDash val="solid"/>
          </a:ln>
        </p:spPr>
      </p:sp>
      <p:sp>
        <p:nvSpPr>
          <p:cNvPr id="24" name="Text 22"/>
          <p:cNvSpPr txBox="1"/>
          <p:nvPr/>
        </p:nvSpPr>
        <p:spPr>
          <a:xfrm>
            <a:off x="9756648" y="3657600"/>
            <a:ext cx="1737360" cy="365760"/>
          </a:xfrm>
          <a:prstGeom prst="rect">
            <a:avLst/>
          </a:prstGeom>
          <a:noFill/>
          <a:ln/>
        </p:spPr>
        <p:txBody>
          <a:bodyPr wrap="square" lIns="0" tIns="0" rIns="0" bIns="0" rtlCol="0" anchor="ctr"/>
          <a:lstStyle/>
          <a:p>
            <a:pPr indent="0" marL="0">
              <a:buNone/>
            </a:pPr>
            <a:r>
              <a:rPr lang="en-US" sz="1400" b="1" dirty="0">
                <a:solidFill>
                  <a:srgbClr val="0F3B4C"/>
                </a:solidFill>
                <a:latin typeface="Arial" pitchFamily="34" charset="0"/>
                <a:ea typeface="Arial" pitchFamily="34" charset="-122"/>
                <a:cs typeface="Arial" pitchFamily="34" charset="-120"/>
              </a:rPr>
              <a:t>Reconstruction</a:t>
            </a:r>
            <a:endParaRPr lang="en-US" sz="1400" dirty="0"/>
          </a:p>
        </p:txBody>
      </p:sp>
      <p:sp>
        <p:nvSpPr>
          <p:cNvPr id="25" name="Text 23"/>
          <p:cNvSpPr txBox="1"/>
          <p:nvPr/>
        </p:nvSpPr>
        <p:spPr>
          <a:xfrm>
            <a:off x="9756648" y="4050792"/>
            <a:ext cx="1737360" cy="731520"/>
          </a:xfrm>
          <a:prstGeom prst="rect">
            <a:avLst/>
          </a:prstGeom>
          <a:noFill/>
          <a:ln/>
        </p:spPr>
        <p:txBody>
          <a:bodyPr wrap="square" lIns="0" tIns="0" rIns="0" bIns="0" rtlCol="0" anchor="t"/>
          <a:lstStyle/>
          <a:p>
            <a:pPr indent="0" marL="0">
              <a:buNone/>
            </a:pPr>
            <a:r>
              <a:rPr lang="en-US" sz="1200" dirty="0">
                <a:solidFill>
                  <a:srgbClr val="1B2730"/>
                </a:solidFill>
                <a:latin typeface="Calibri" pitchFamily="34" charset="0"/>
                <a:ea typeface="Calibri" pitchFamily="34" charset="-122"/>
                <a:cs typeface="Calibri" pitchFamily="34" charset="-120"/>
              </a:rPr>
              <a:t>PDF · DOCX/ZIP · SQLite · JPEG · text/logs</a:t>
            </a:r>
            <a:endParaRPr lang="en-US" sz="1200" dirty="0"/>
          </a:p>
        </p:txBody>
      </p:sp>
      <p:sp>
        <p:nvSpPr>
          <p:cNvPr id="26" name="Shape 24"/>
          <p:cNvSpPr/>
          <p:nvPr/>
        </p:nvSpPr>
        <p:spPr>
          <a:xfrm flipH="1">
            <a:off x="9390888" y="4183380"/>
            <a:ext cx="201168" cy="914"/>
          </a:xfrm>
          <a:prstGeom prst="line">
            <a:avLst/>
          </a:prstGeom>
          <a:noFill/>
          <a:ln w="25400">
            <a:solidFill>
              <a:srgbClr val="1FA99A"/>
            </a:solidFill>
            <a:prstDash val="solid"/>
            <a:tailEnd type="triangle"/>
          </a:ln>
        </p:spPr>
      </p:sp>
      <p:sp>
        <p:nvSpPr>
          <p:cNvPr id="27" name="Shape 25"/>
          <p:cNvSpPr/>
          <p:nvPr/>
        </p:nvSpPr>
        <p:spPr>
          <a:xfrm>
            <a:off x="7351776" y="3520440"/>
            <a:ext cx="2011680" cy="1325880"/>
          </a:xfrm>
          <a:prstGeom prst="roundRect">
            <a:avLst>
              <a:gd name="adj" fmla="val 5517"/>
            </a:avLst>
          </a:prstGeom>
          <a:solidFill>
            <a:srgbClr val="F2F7F8"/>
          </a:solidFill>
          <a:ln w="12700">
            <a:solidFill>
              <a:srgbClr val="C9D6DA"/>
            </a:solidFill>
            <a:prstDash val="solid"/>
          </a:ln>
        </p:spPr>
      </p:sp>
      <p:sp>
        <p:nvSpPr>
          <p:cNvPr id="28" name="Text 26"/>
          <p:cNvSpPr txBox="1"/>
          <p:nvPr/>
        </p:nvSpPr>
        <p:spPr>
          <a:xfrm>
            <a:off x="7488936" y="3657600"/>
            <a:ext cx="1737360" cy="365760"/>
          </a:xfrm>
          <a:prstGeom prst="rect">
            <a:avLst/>
          </a:prstGeom>
          <a:noFill/>
          <a:ln/>
        </p:spPr>
        <p:txBody>
          <a:bodyPr wrap="square" lIns="0" tIns="0" rIns="0" bIns="0" rtlCol="0" anchor="ctr"/>
          <a:lstStyle/>
          <a:p>
            <a:pPr indent="0" marL="0">
              <a:buNone/>
            </a:pPr>
            <a:r>
              <a:rPr lang="en-US" sz="1400" b="1" dirty="0">
                <a:solidFill>
                  <a:srgbClr val="0F3B4C"/>
                </a:solidFill>
                <a:latin typeface="Arial" pitchFamily="34" charset="0"/>
                <a:ea typeface="Arial" pitchFamily="34" charset="-122"/>
                <a:cs typeface="Arial" pitchFamily="34" charset="-120"/>
              </a:rPr>
              <a:t>Validation</a:t>
            </a:r>
            <a:endParaRPr lang="en-US" sz="1400" dirty="0"/>
          </a:p>
        </p:txBody>
      </p:sp>
      <p:sp>
        <p:nvSpPr>
          <p:cNvPr id="29" name="Text 27"/>
          <p:cNvSpPr txBox="1"/>
          <p:nvPr/>
        </p:nvSpPr>
        <p:spPr>
          <a:xfrm>
            <a:off x="7488936" y="4050792"/>
            <a:ext cx="1737360" cy="731520"/>
          </a:xfrm>
          <a:prstGeom prst="rect">
            <a:avLst/>
          </a:prstGeom>
          <a:noFill/>
          <a:ln/>
        </p:spPr>
        <p:txBody>
          <a:bodyPr wrap="square" lIns="0" tIns="0" rIns="0" bIns="0" rtlCol="0" anchor="t"/>
          <a:lstStyle/>
          <a:p>
            <a:pPr indent="0" marL="0">
              <a:buNone/>
            </a:pPr>
            <a:r>
              <a:rPr lang="en-US" sz="1200" dirty="0">
                <a:solidFill>
                  <a:srgbClr val="1B2730"/>
                </a:solidFill>
                <a:latin typeface="Calibri" pitchFamily="34" charset="0"/>
                <a:ea typeface="Calibri" pitchFamily="34" charset="-122"/>
                <a:cs typeface="Calibri" pitchFamily="34" charset="-120"/>
              </a:rPr>
              <a:t>Real parsers: libjpeg, CRC-32, sqlite3, PDF walk</a:t>
            </a:r>
            <a:endParaRPr lang="en-US" sz="1200" dirty="0"/>
          </a:p>
        </p:txBody>
      </p:sp>
      <p:sp>
        <p:nvSpPr>
          <p:cNvPr id="30" name="Shape 28"/>
          <p:cNvSpPr/>
          <p:nvPr/>
        </p:nvSpPr>
        <p:spPr>
          <a:xfrm flipH="1">
            <a:off x="7123176" y="4183380"/>
            <a:ext cx="201168" cy="914"/>
          </a:xfrm>
          <a:prstGeom prst="line">
            <a:avLst/>
          </a:prstGeom>
          <a:noFill/>
          <a:ln w="25400">
            <a:solidFill>
              <a:srgbClr val="1FA99A"/>
            </a:solidFill>
            <a:prstDash val="solid"/>
            <a:tailEnd type="triangle"/>
          </a:ln>
        </p:spPr>
      </p:sp>
      <p:sp>
        <p:nvSpPr>
          <p:cNvPr id="31" name="Shape 29"/>
          <p:cNvSpPr/>
          <p:nvPr/>
        </p:nvSpPr>
        <p:spPr>
          <a:xfrm>
            <a:off x="5084064" y="3520440"/>
            <a:ext cx="2011680" cy="1325880"/>
          </a:xfrm>
          <a:prstGeom prst="roundRect">
            <a:avLst>
              <a:gd name="adj" fmla="val 5517"/>
            </a:avLst>
          </a:prstGeom>
          <a:solidFill>
            <a:srgbClr val="F2F7F8"/>
          </a:solidFill>
          <a:ln w="12700">
            <a:solidFill>
              <a:srgbClr val="C9D6DA"/>
            </a:solidFill>
            <a:prstDash val="solid"/>
          </a:ln>
        </p:spPr>
      </p:sp>
      <p:sp>
        <p:nvSpPr>
          <p:cNvPr id="32" name="Text 30"/>
          <p:cNvSpPr txBox="1"/>
          <p:nvPr/>
        </p:nvSpPr>
        <p:spPr>
          <a:xfrm>
            <a:off x="5221224" y="3657600"/>
            <a:ext cx="1737360" cy="365760"/>
          </a:xfrm>
          <a:prstGeom prst="rect">
            <a:avLst/>
          </a:prstGeom>
          <a:noFill/>
          <a:ln/>
        </p:spPr>
        <p:txBody>
          <a:bodyPr wrap="square" lIns="0" tIns="0" rIns="0" bIns="0" rtlCol="0" anchor="ctr"/>
          <a:lstStyle/>
          <a:p>
            <a:pPr indent="0" marL="0">
              <a:buNone/>
            </a:pPr>
            <a:r>
              <a:rPr lang="en-US" sz="1400" b="1" dirty="0">
                <a:solidFill>
                  <a:srgbClr val="0F3B4C"/>
                </a:solidFill>
                <a:latin typeface="Arial" pitchFamily="34" charset="0"/>
                <a:ea typeface="Arial" pitchFamily="34" charset="-122"/>
                <a:cs typeface="Arial" pitchFamily="34" charset="-120"/>
              </a:rPr>
              <a:t>Four scores</a:t>
            </a:r>
            <a:endParaRPr lang="en-US" sz="1400" dirty="0"/>
          </a:p>
        </p:txBody>
      </p:sp>
      <p:sp>
        <p:nvSpPr>
          <p:cNvPr id="33" name="Text 31"/>
          <p:cNvSpPr txBox="1"/>
          <p:nvPr/>
        </p:nvSpPr>
        <p:spPr>
          <a:xfrm>
            <a:off x="5221224" y="4050792"/>
            <a:ext cx="1737360" cy="731520"/>
          </a:xfrm>
          <a:prstGeom prst="rect">
            <a:avLst/>
          </a:prstGeom>
          <a:noFill/>
          <a:ln/>
        </p:spPr>
        <p:txBody>
          <a:bodyPr wrap="square" lIns="0" tIns="0" rIns="0" bIns="0" rtlCol="0" anchor="t"/>
          <a:lstStyle/>
          <a:p>
            <a:pPr indent="0" marL="0">
              <a:buNone/>
            </a:pPr>
            <a:r>
              <a:rPr lang="en-US" sz="1200" dirty="0">
                <a:solidFill>
                  <a:srgbClr val="1B2730"/>
                </a:solidFill>
                <a:latin typeface="Calibri" pitchFamily="34" charset="0"/>
                <a:ea typeface="Calibri" pitchFamily="34" charset="-122"/>
                <a:cs typeface="Calibri" pitchFamily="34" charset="-120"/>
              </a:rPr>
              <a:t>Integrity · reconstruction · link · content</a:t>
            </a:r>
            <a:endParaRPr lang="en-US" sz="1200" dirty="0"/>
          </a:p>
        </p:txBody>
      </p:sp>
      <p:sp>
        <p:nvSpPr>
          <p:cNvPr id="34" name="Shape 32"/>
          <p:cNvSpPr/>
          <p:nvPr/>
        </p:nvSpPr>
        <p:spPr>
          <a:xfrm flipH="1">
            <a:off x="4855464" y="4183380"/>
            <a:ext cx="201168" cy="914"/>
          </a:xfrm>
          <a:prstGeom prst="line">
            <a:avLst/>
          </a:prstGeom>
          <a:noFill/>
          <a:ln w="25400">
            <a:solidFill>
              <a:srgbClr val="1FA99A"/>
            </a:solidFill>
            <a:prstDash val="solid"/>
            <a:tailEnd type="triangle"/>
          </a:ln>
        </p:spPr>
      </p:sp>
      <p:sp>
        <p:nvSpPr>
          <p:cNvPr id="35" name="Shape 33"/>
          <p:cNvSpPr/>
          <p:nvPr/>
        </p:nvSpPr>
        <p:spPr>
          <a:xfrm>
            <a:off x="2816352" y="3520440"/>
            <a:ext cx="2011680" cy="1325880"/>
          </a:xfrm>
          <a:prstGeom prst="roundRect">
            <a:avLst>
              <a:gd name="adj" fmla="val 5517"/>
            </a:avLst>
          </a:prstGeom>
          <a:solidFill>
            <a:srgbClr val="F2F7F8"/>
          </a:solidFill>
          <a:ln w="12700">
            <a:solidFill>
              <a:srgbClr val="C9D6DA"/>
            </a:solidFill>
            <a:prstDash val="solid"/>
          </a:ln>
        </p:spPr>
      </p:sp>
      <p:sp>
        <p:nvSpPr>
          <p:cNvPr id="36" name="Text 34"/>
          <p:cNvSpPr txBox="1"/>
          <p:nvPr/>
        </p:nvSpPr>
        <p:spPr>
          <a:xfrm>
            <a:off x="2953512" y="3657600"/>
            <a:ext cx="1737360" cy="365760"/>
          </a:xfrm>
          <a:prstGeom prst="rect">
            <a:avLst/>
          </a:prstGeom>
          <a:noFill/>
          <a:ln/>
        </p:spPr>
        <p:txBody>
          <a:bodyPr wrap="square" lIns="0" tIns="0" rIns="0" bIns="0" rtlCol="0" anchor="ctr"/>
          <a:lstStyle/>
          <a:p>
            <a:pPr indent="0" marL="0">
              <a:buNone/>
            </a:pPr>
            <a:r>
              <a:rPr lang="en-US" sz="1400" b="1" dirty="0">
                <a:solidFill>
                  <a:srgbClr val="0F3B4C"/>
                </a:solidFill>
                <a:latin typeface="Arial" pitchFamily="34" charset="0"/>
                <a:ea typeface="Arial" pitchFamily="34" charset="-122"/>
                <a:cs typeface="Arial" pitchFamily="34" charset="-120"/>
              </a:rPr>
              <a:t>Classify &amp; rank</a:t>
            </a:r>
            <a:endParaRPr lang="en-US" sz="1400" dirty="0"/>
          </a:p>
        </p:txBody>
      </p:sp>
      <p:sp>
        <p:nvSpPr>
          <p:cNvPr id="37" name="Text 35"/>
          <p:cNvSpPr txBox="1"/>
          <p:nvPr/>
        </p:nvSpPr>
        <p:spPr>
          <a:xfrm>
            <a:off x="2953512" y="4050792"/>
            <a:ext cx="1737360" cy="731520"/>
          </a:xfrm>
          <a:prstGeom prst="rect">
            <a:avLst/>
          </a:prstGeom>
          <a:noFill/>
          <a:ln/>
        </p:spPr>
        <p:txBody>
          <a:bodyPr wrap="square" lIns="0" tIns="0" rIns="0" bIns="0" rtlCol="0" anchor="t"/>
          <a:lstStyle/>
          <a:p>
            <a:pPr indent="0" marL="0">
              <a:buNone/>
            </a:pPr>
            <a:r>
              <a:rPr lang="en-US" sz="1200" dirty="0">
                <a:solidFill>
                  <a:srgbClr val="1B2730"/>
                </a:solidFill>
                <a:latin typeface="Calibri" pitchFamily="34" charset="0"/>
                <a:ea typeface="Calibri" pitchFamily="34" charset="-122"/>
                <a:cs typeface="Calibri" pitchFamily="34" charset="-120"/>
              </a:rPr>
              <a:t>Status and user-configurable priority</a:t>
            </a:r>
            <a:endParaRPr lang="en-US" sz="1200" dirty="0"/>
          </a:p>
        </p:txBody>
      </p:sp>
      <p:sp>
        <p:nvSpPr>
          <p:cNvPr id="38" name="Shape 36"/>
          <p:cNvSpPr/>
          <p:nvPr/>
        </p:nvSpPr>
        <p:spPr>
          <a:xfrm flipH="1">
            <a:off x="2587752" y="4183380"/>
            <a:ext cx="201168" cy="914"/>
          </a:xfrm>
          <a:prstGeom prst="line">
            <a:avLst/>
          </a:prstGeom>
          <a:noFill/>
          <a:ln w="25400">
            <a:solidFill>
              <a:srgbClr val="1FA99A"/>
            </a:solidFill>
            <a:prstDash val="solid"/>
            <a:tailEnd type="triangle"/>
          </a:ln>
        </p:spPr>
      </p:sp>
      <p:sp>
        <p:nvSpPr>
          <p:cNvPr id="39" name="Shape 37"/>
          <p:cNvSpPr/>
          <p:nvPr/>
        </p:nvSpPr>
        <p:spPr>
          <a:xfrm>
            <a:off x="548640" y="3520440"/>
            <a:ext cx="2011680" cy="1325880"/>
          </a:xfrm>
          <a:prstGeom prst="roundRect">
            <a:avLst>
              <a:gd name="adj" fmla="val 5517"/>
            </a:avLst>
          </a:prstGeom>
          <a:solidFill>
            <a:srgbClr val="F2F7F8"/>
          </a:solidFill>
          <a:ln w="12700">
            <a:solidFill>
              <a:srgbClr val="C9D6DA"/>
            </a:solidFill>
            <a:prstDash val="solid"/>
          </a:ln>
        </p:spPr>
      </p:sp>
      <p:sp>
        <p:nvSpPr>
          <p:cNvPr id="40" name="Text 38"/>
          <p:cNvSpPr txBox="1"/>
          <p:nvPr/>
        </p:nvSpPr>
        <p:spPr>
          <a:xfrm>
            <a:off x="685800" y="3657600"/>
            <a:ext cx="1737360" cy="365760"/>
          </a:xfrm>
          <a:prstGeom prst="rect">
            <a:avLst/>
          </a:prstGeom>
          <a:noFill/>
          <a:ln/>
        </p:spPr>
        <p:txBody>
          <a:bodyPr wrap="square" lIns="0" tIns="0" rIns="0" bIns="0" rtlCol="0" anchor="ctr"/>
          <a:lstStyle/>
          <a:p>
            <a:pPr indent="0" marL="0">
              <a:buNone/>
            </a:pPr>
            <a:r>
              <a:rPr lang="en-US" sz="1400" b="1" dirty="0">
                <a:solidFill>
                  <a:srgbClr val="0F3B4C"/>
                </a:solidFill>
                <a:latin typeface="Arial" pitchFamily="34" charset="0"/>
                <a:ea typeface="Arial" pitchFamily="34" charset="-122"/>
                <a:cs typeface="Arial" pitchFamily="34" charset="-120"/>
              </a:rPr>
              <a:t>Explain &amp; report</a:t>
            </a:r>
            <a:endParaRPr lang="en-US" sz="1400" dirty="0"/>
          </a:p>
        </p:txBody>
      </p:sp>
      <p:sp>
        <p:nvSpPr>
          <p:cNvPr id="41" name="Text 39"/>
          <p:cNvSpPr txBox="1"/>
          <p:nvPr/>
        </p:nvSpPr>
        <p:spPr>
          <a:xfrm>
            <a:off x="685800" y="4050792"/>
            <a:ext cx="1737360" cy="731520"/>
          </a:xfrm>
          <a:prstGeom prst="rect">
            <a:avLst/>
          </a:prstGeom>
          <a:noFill/>
          <a:ln/>
        </p:spPr>
        <p:txBody>
          <a:bodyPr wrap="square" lIns="0" tIns="0" rIns="0" bIns="0" rtlCol="0" anchor="t"/>
          <a:lstStyle/>
          <a:p>
            <a:pPr indent="0" marL="0">
              <a:buNone/>
            </a:pPr>
            <a:r>
              <a:rPr lang="en-US" sz="1200" dirty="0">
                <a:solidFill>
                  <a:srgbClr val="1B2730"/>
                </a:solidFill>
                <a:latin typeface="Calibri" pitchFamily="34" charset="0"/>
                <a:ea typeface="Calibri" pitchFamily="34" charset="-122"/>
                <a:cs typeface="Calibri" pitchFamily="34" charset="-120"/>
              </a:rPr>
              <a:t>Evidence-based text, JSON report, audit trail</a:t>
            </a:r>
            <a:endParaRPr lang="en-US" sz="1200" dirty="0"/>
          </a:p>
        </p:txBody>
      </p:sp>
      <p:sp>
        <p:nvSpPr>
          <p:cNvPr id="42" name="Shape 40"/>
          <p:cNvSpPr/>
          <p:nvPr/>
        </p:nvSpPr>
        <p:spPr>
          <a:xfrm>
            <a:off x="10625328" y="3044952"/>
            <a:ext cx="914" cy="448056"/>
          </a:xfrm>
          <a:prstGeom prst="line">
            <a:avLst/>
          </a:prstGeom>
          <a:noFill/>
          <a:ln w="25400">
            <a:solidFill>
              <a:srgbClr val="1FA99A"/>
            </a:solidFill>
            <a:prstDash val="solid"/>
            <a:tailEnd type="triangle"/>
          </a:ln>
        </p:spPr>
      </p:sp>
      <p:sp>
        <p:nvSpPr>
          <p:cNvPr id="43" name="Shape 41"/>
          <p:cNvSpPr/>
          <p:nvPr/>
        </p:nvSpPr>
        <p:spPr>
          <a:xfrm>
            <a:off x="548640" y="5257800"/>
            <a:ext cx="5394960" cy="1005840"/>
          </a:xfrm>
          <a:prstGeom prst="roundRect">
            <a:avLst>
              <a:gd name="adj" fmla="val 7273"/>
            </a:avLst>
          </a:prstGeom>
          <a:solidFill>
            <a:srgbClr val="F2F7F8"/>
          </a:solidFill>
          <a:ln w="12700">
            <a:solidFill>
              <a:srgbClr val="F2F7F8"/>
            </a:solidFill>
            <a:prstDash val="solid"/>
          </a:ln>
        </p:spPr>
      </p:sp>
      <p:sp>
        <p:nvSpPr>
          <p:cNvPr id="44" name="Shape 42"/>
          <p:cNvSpPr/>
          <p:nvPr/>
        </p:nvSpPr>
        <p:spPr>
          <a:xfrm>
            <a:off x="6245352" y="5257800"/>
            <a:ext cx="5394960" cy="1005840"/>
          </a:xfrm>
          <a:prstGeom prst="roundRect">
            <a:avLst>
              <a:gd name="adj" fmla="val 7273"/>
            </a:avLst>
          </a:prstGeom>
          <a:solidFill>
            <a:srgbClr val="F2F7F8"/>
          </a:solidFill>
          <a:ln w="12700">
            <a:solidFill>
              <a:srgbClr val="F2F7F8"/>
            </a:solidFill>
            <a:prstDash val="solid"/>
          </a:ln>
        </p:spPr>
      </p:sp>
      <p:sp>
        <p:nvSpPr>
          <p:cNvPr id="45" name="Text 43"/>
          <p:cNvSpPr txBox="1"/>
          <p:nvPr/>
        </p:nvSpPr>
        <p:spPr>
          <a:xfrm>
            <a:off x="777240" y="5349240"/>
            <a:ext cx="5029200" cy="822960"/>
          </a:xfrm>
          <a:prstGeom prst="rect">
            <a:avLst/>
          </a:prstGeom>
          <a:noFill/>
          <a:ln/>
        </p:spPr>
        <p:txBody>
          <a:bodyPr wrap="square" lIns="0" tIns="0" rIns="0" bIns="0" rtlCol="0" anchor="ctr"/>
          <a:lstStyle/>
          <a:p>
            <a:pPr indent="0" marL="0">
              <a:buNone/>
            </a:pPr>
            <a:r>
              <a:rPr lang="en-US" sz="1400" b="1" dirty="0">
                <a:solidFill>
                  <a:srgbClr val="0F3B4C"/>
                </a:solidFill>
                <a:latin typeface="Calibri" pitchFamily="34" charset="0"/>
                <a:ea typeface="Calibri" pitchFamily="34" charset="-122"/>
                <a:cs typeface="Calibri" pitchFamily="34" charset="-120"/>
              </a:rPr>
              <a:t>Backend  </a:t>
            </a:r>
            <a:pPr indent="0" marL="0">
              <a:buNone/>
            </a:pPr>
            <a:r>
              <a:rPr lang="en-US" sz="1400" dirty="0">
                <a:solidFill>
                  <a:srgbClr val="1B2730"/>
                </a:solidFill>
                <a:latin typeface="Calibri" pitchFamily="34" charset="0"/>
                <a:ea typeface="Calibri" pitchFamily="34" charset="-122"/>
                <a:cs typeface="Calibri" pitchFamily="34" charset="-120"/>
              </a:rPr>
              <a:t>Python · FastAPI · NumPy · Pillow · PyMuPDF · SQLite</a:t>
            </a:r>
            <a:endParaRPr lang="en-US" sz="1400" dirty="0"/>
          </a:p>
        </p:txBody>
      </p:sp>
      <p:sp>
        <p:nvSpPr>
          <p:cNvPr id="46" name="Text 44"/>
          <p:cNvSpPr txBox="1"/>
          <p:nvPr/>
        </p:nvSpPr>
        <p:spPr>
          <a:xfrm>
            <a:off x="6473952" y="5349240"/>
            <a:ext cx="5029200" cy="822960"/>
          </a:xfrm>
          <a:prstGeom prst="rect">
            <a:avLst/>
          </a:prstGeom>
          <a:noFill/>
          <a:ln/>
        </p:spPr>
        <p:txBody>
          <a:bodyPr wrap="square" lIns="0" tIns="0" rIns="0" bIns="0" rtlCol="0" anchor="ctr"/>
          <a:lstStyle/>
          <a:p>
            <a:pPr indent="0" marL="0">
              <a:buNone/>
            </a:pPr>
            <a:r>
              <a:rPr lang="en-US" sz="1400" b="1" dirty="0">
                <a:solidFill>
                  <a:srgbClr val="0F3B4C"/>
                </a:solidFill>
                <a:latin typeface="Calibri" pitchFamily="34" charset="0"/>
                <a:ea typeface="Calibri" pitchFamily="34" charset="-122"/>
                <a:cs typeface="Calibri" pitchFamily="34" charset="-120"/>
              </a:rPr>
              <a:t>Frontend  </a:t>
            </a:r>
            <a:pPr indent="0" marL="0">
              <a:buNone/>
            </a:pPr>
            <a:r>
              <a:rPr lang="en-US" sz="1400" dirty="0">
                <a:solidFill>
                  <a:srgbClr val="1B2730"/>
                </a:solidFill>
                <a:latin typeface="Calibri" pitchFamily="34" charset="0"/>
                <a:ea typeface="Calibri" pitchFamily="34" charset="-122"/>
                <a:cs typeface="Calibri" pitchFamily="34" charset="-120"/>
              </a:rPr>
              <a:t>React · TypeScript · Vite · Tailwind · React Flow · Recharts</a:t>
            </a:r>
            <a:endParaRPr lang="en-US" sz="1400" dirty="0"/>
          </a:p>
        </p:txBody>
      </p:sp>
      <p:sp>
        <p:nvSpPr>
          <p:cNvPr id="47" name="Text 45"/>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Where AI is used, and where it is not</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Facts come from parsers. AI only scores relationships, and it always shows its reasons.</a:t>
            </a:r>
            <a:endParaRPr lang="en-US" sz="1600" dirty="0"/>
          </a:p>
        </p:txBody>
      </p:sp>
      <p:sp>
        <p:nvSpPr>
          <p:cNvPr id="4" name="Shape 2"/>
          <p:cNvSpPr/>
          <p:nvPr/>
        </p:nvSpPr>
        <p:spPr>
          <a:xfrm>
            <a:off x="548640" y="1691640"/>
            <a:ext cx="4663440" cy="4526280"/>
          </a:xfrm>
          <a:prstGeom prst="roundRect">
            <a:avLst>
              <a:gd name="adj" fmla="val 1616"/>
            </a:avLst>
          </a:prstGeom>
          <a:solidFill>
            <a:srgbClr val="F2F7F8"/>
          </a:solidFill>
          <a:ln w="12700">
            <a:solidFill>
              <a:srgbClr val="F2F7F8"/>
            </a:solidFill>
            <a:prstDash val="solid"/>
          </a:ln>
        </p:spPr>
      </p:sp>
      <p:sp>
        <p:nvSpPr>
          <p:cNvPr id="5" name="Shape 3"/>
          <p:cNvSpPr/>
          <p:nvPr/>
        </p:nvSpPr>
        <p:spPr>
          <a:xfrm>
            <a:off x="822960" y="1920240"/>
            <a:ext cx="640080" cy="640080"/>
          </a:xfrm>
          <a:prstGeom prst="ellipse">
            <a:avLst/>
          </a:prstGeom>
          <a:solidFill>
            <a:srgbClr val="0F3B4C"/>
          </a:solidFill>
          <a:ln w="12700">
            <a:solidFill>
              <a:srgbClr val="0F3B4C"/>
            </a:solidFill>
            <a:prstDash val="solid"/>
          </a:ln>
        </p:spPr>
      </p:sp>
      <p:pic>
        <p:nvPicPr>
          <p:cNvPr id="6" name="Image 0" descr="preencoded.png">    </p:cNvPr>
          <p:cNvPicPr>
            <a:picLocks noChangeAspect="1"/>
          </p:cNvPicPr>
          <p:nvPr/>
        </p:nvPicPr>
        <p:blipFill>
          <a:blip r:embed="rId1"/>
          <a:stretch>
            <a:fillRect/>
          </a:stretch>
        </p:blipFill>
        <p:spPr>
          <a:xfrm>
            <a:off x="982980" y="2080260"/>
            <a:ext cx="320040" cy="320040"/>
          </a:xfrm>
          <a:prstGeom prst="rect">
            <a:avLst/>
          </a:prstGeom>
        </p:spPr>
      </p:pic>
      <p:sp>
        <p:nvSpPr>
          <p:cNvPr id="7" name="Text 4"/>
          <p:cNvSpPr txBox="1"/>
          <p:nvPr/>
        </p:nvSpPr>
        <p:spPr>
          <a:xfrm>
            <a:off x="1600200" y="2011680"/>
            <a:ext cx="347472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Deterministic (facts)</a:t>
            </a:r>
            <a:endParaRPr lang="en-US" sz="1900" dirty="0"/>
          </a:p>
        </p:txBody>
      </p:sp>
      <p:sp>
        <p:nvSpPr>
          <p:cNvPr id="8" name="Text 5"/>
          <p:cNvSpPr txBox="1"/>
          <p:nvPr/>
        </p:nvSpPr>
        <p:spPr>
          <a:xfrm>
            <a:off x="822960" y="2788920"/>
            <a:ext cx="420624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2730"/>
                </a:solidFill>
                <a:latin typeface="Calibri" pitchFamily="34" charset="0"/>
                <a:ea typeface="Calibri" pitchFamily="34" charset="-122"/>
                <a:cs typeface="Calibri" pitchFamily="34" charset="-120"/>
              </a:rPr>
              <a:t>File signatures, headers and cluster classification</a:t>
            </a:r>
            <a:endParaRPr lang="en-US" sz="1500" dirty="0"/>
          </a:p>
          <a:p>
            <a:pPr marL="342900" indent="-342900">
              <a:spcAft>
                <a:spcPts val="1000"/>
              </a:spcAft>
              <a:buSzPct val="100000"/>
              <a:buChar char="•"/>
            </a:pPr>
            <a:r>
              <a:rPr lang="en-US" sz="1500" dirty="0">
                <a:solidFill>
                  <a:srgbClr val="1B2730"/>
                </a:solidFill>
                <a:latin typeface="Calibri" pitchFamily="34" charset="0"/>
                <a:ea typeface="Calibri" pitchFamily="34" charset="-122"/>
                <a:cs typeface="Calibri" pitchFamily="34" charset="-120"/>
              </a:rPr>
              <a:t>Placement via container indexes (PDF xref, ZIP offsets + CRC-32, SQLite b-tree)</a:t>
            </a:r>
            <a:endParaRPr lang="en-US" sz="1500" dirty="0"/>
          </a:p>
          <a:p>
            <a:pPr marL="342900" indent="-342900">
              <a:spcAft>
                <a:spcPts val="1000"/>
              </a:spcAft>
              <a:buSzPct val="100000"/>
              <a:buChar char="•"/>
            </a:pPr>
            <a:r>
              <a:rPr lang="en-US" sz="1500" dirty="0">
                <a:solidFill>
                  <a:srgbClr val="1B2730"/>
                </a:solidFill>
                <a:latin typeface="Calibri" pitchFamily="34" charset="0"/>
                <a:ea typeface="Calibri" pitchFamily="34" charset="-122"/>
                <a:cs typeface="Calibri" pitchFamily="34" charset="-120"/>
              </a:rPr>
              <a:t>Validation with real parsers (libjpeg, zipfile, sqlite3, MuPDF)</a:t>
            </a:r>
            <a:endParaRPr lang="en-US" sz="1500" dirty="0"/>
          </a:p>
          <a:p>
            <a:pPr marL="342900" indent="-342900">
              <a:spcAft>
                <a:spcPts val="1000"/>
              </a:spcAft>
              <a:buSzPct val="100000"/>
              <a:buChar char="•"/>
            </a:pPr>
            <a:r>
              <a:rPr lang="en-US" sz="1500" dirty="0">
                <a:solidFill>
                  <a:srgbClr val="1B2730"/>
                </a:solidFill>
                <a:latin typeface="Calibri" pitchFamily="34" charset="0"/>
                <a:ea typeface="Calibri" pitchFamily="34" charset="-122"/>
                <a:cs typeface="Calibri" pitchFamily="34" charset="-120"/>
              </a:rPr>
              <a:t>Explanations: templates filled from recorded checks, no LLM</a:t>
            </a:r>
            <a:endParaRPr lang="en-US" sz="1500" dirty="0"/>
          </a:p>
        </p:txBody>
      </p:sp>
      <p:sp>
        <p:nvSpPr>
          <p:cNvPr id="9" name="Shape 6"/>
          <p:cNvSpPr/>
          <p:nvPr/>
        </p:nvSpPr>
        <p:spPr>
          <a:xfrm>
            <a:off x="5440680" y="1691640"/>
            <a:ext cx="6199632" cy="4526280"/>
          </a:xfrm>
          <a:prstGeom prst="roundRect">
            <a:avLst>
              <a:gd name="adj" fmla="val 1616"/>
            </a:avLst>
          </a:prstGeom>
          <a:solidFill>
            <a:srgbClr val="FDEBD3"/>
          </a:solidFill>
          <a:ln w="12700">
            <a:solidFill>
              <a:srgbClr val="FDEBD3"/>
            </a:solidFill>
            <a:prstDash val="solid"/>
          </a:ln>
        </p:spPr>
      </p:sp>
      <p:sp>
        <p:nvSpPr>
          <p:cNvPr id="10" name="Shape 7"/>
          <p:cNvSpPr/>
          <p:nvPr/>
        </p:nvSpPr>
        <p:spPr>
          <a:xfrm>
            <a:off x="5715000" y="1920240"/>
            <a:ext cx="640080" cy="640080"/>
          </a:xfrm>
          <a:prstGeom prst="ellipse">
            <a:avLst/>
          </a:prstGeom>
          <a:solidFill>
            <a:srgbClr val="F29A2E"/>
          </a:solidFill>
          <a:ln w="12700">
            <a:solidFill>
              <a:srgbClr val="F29A2E"/>
            </a:solidFill>
            <a:prstDash val="solid"/>
          </a:ln>
        </p:spPr>
      </p:sp>
      <p:pic>
        <p:nvPicPr>
          <p:cNvPr id="11" name="Image 1" descr="preencoded.png">    </p:cNvPr>
          <p:cNvPicPr>
            <a:picLocks noChangeAspect="1"/>
          </p:cNvPicPr>
          <p:nvPr/>
        </p:nvPicPr>
        <p:blipFill>
          <a:blip r:embed="rId2"/>
          <a:stretch>
            <a:fillRect/>
          </a:stretch>
        </p:blipFill>
        <p:spPr>
          <a:xfrm>
            <a:off x="5875020" y="2080260"/>
            <a:ext cx="320040" cy="320040"/>
          </a:xfrm>
          <a:prstGeom prst="rect">
            <a:avLst/>
          </a:prstGeom>
        </p:spPr>
      </p:pic>
      <p:sp>
        <p:nvSpPr>
          <p:cNvPr id="12" name="Text 8"/>
          <p:cNvSpPr txBox="1"/>
          <p:nvPr/>
        </p:nvSpPr>
        <p:spPr>
          <a:xfrm>
            <a:off x="6492240" y="2011680"/>
            <a:ext cx="457200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AI / ML (inference)</a:t>
            </a:r>
            <a:endParaRPr lang="en-US" sz="1900" dirty="0"/>
          </a:p>
        </p:txBody>
      </p:sp>
      <p:sp>
        <p:nvSpPr>
          <p:cNvPr id="13" name="Text 9"/>
          <p:cNvSpPr txBox="1"/>
          <p:nvPr/>
        </p:nvSpPr>
        <p:spPr>
          <a:xfrm>
            <a:off x="5715000" y="2788920"/>
            <a:ext cx="566928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730"/>
                </a:solidFill>
                <a:latin typeface="Calibri" pitchFamily="34" charset="0"/>
                <a:ea typeface="Calibri" pitchFamily="34" charset="-122"/>
                <a:cs typeface="Calibri" pitchFamily="34" charset="-120"/>
              </a:rPr>
              <a:t>Fragment-relationship model: logistic regression over 9 features (seams, entropy, timestamps, vocabulary…)</a:t>
            </a:r>
            <a:endParaRPr lang="en-US" sz="1500" dirty="0"/>
          </a:p>
          <a:p>
            <a:pPr marL="342900" indent="-342900">
              <a:spcAft>
                <a:spcPts val="800"/>
              </a:spcAft>
              <a:buSzPct val="100000"/>
              <a:buChar char="•"/>
            </a:pPr>
            <a:r>
              <a:rPr lang="en-US" sz="1500" dirty="0">
                <a:solidFill>
                  <a:srgbClr val="1B2730"/>
                </a:solidFill>
                <a:latin typeface="Calibri" pitchFamily="34" charset="0"/>
                <a:ea typeface="Calibri" pitchFamily="34" charset="-122"/>
                <a:cs typeface="Calibri" pitchFamily="34" charset="-120"/>
              </a:rPr>
              <a:t>Anomaly scan of JPEG rows (advisory only)</a:t>
            </a:r>
            <a:endParaRPr lang="en-US" sz="1500" dirty="0"/>
          </a:p>
          <a:p>
            <a:pPr marL="342900" indent="-342900">
              <a:spcAft>
                <a:spcPts val="800"/>
              </a:spcAft>
              <a:buSzPct val="100000"/>
              <a:buChar char="•"/>
            </a:pPr>
            <a:r>
              <a:rPr lang="en-US" sz="1500" dirty="0">
                <a:solidFill>
                  <a:srgbClr val="1B2730"/>
                </a:solidFill>
                <a:latin typeface="Calibri" pitchFamily="34" charset="0"/>
                <a:ea typeface="Calibri" pitchFamily="34" charset="-122"/>
                <a:cs typeface="Calibri" pitchFamily="34" charset="-120"/>
              </a:rPr>
              <a:t>TF-IDF content similarity between recovered texts</a:t>
            </a:r>
            <a:endParaRPr lang="en-US" sz="1500" dirty="0"/>
          </a:p>
        </p:txBody>
      </p:sp>
      <p:sp>
        <p:nvSpPr>
          <p:cNvPr id="14" name="Shape 10"/>
          <p:cNvSpPr/>
          <p:nvPr/>
        </p:nvSpPr>
        <p:spPr>
          <a:xfrm>
            <a:off x="5715000" y="4617720"/>
            <a:ext cx="1737360" cy="1371600"/>
          </a:xfrm>
          <a:prstGeom prst="roundRect">
            <a:avLst>
              <a:gd name="adj" fmla="val 5333"/>
            </a:avLst>
          </a:prstGeom>
          <a:solidFill>
            <a:srgbClr val="FFFFFF"/>
          </a:solidFill>
          <a:ln w="12700">
            <a:solidFill>
              <a:srgbClr val="FFFFFF"/>
            </a:solidFill>
            <a:prstDash val="solid"/>
          </a:ln>
        </p:spPr>
      </p:sp>
      <p:sp>
        <p:nvSpPr>
          <p:cNvPr id="15" name="Text 11"/>
          <p:cNvSpPr txBox="1"/>
          <p:nvPr/>
        </p:nvSpPr>
        <p:spPr>
          <a:xfrm>
            <a:off x="5715000" y="4709160"/>
            <a:ext cx="1737360" cy="731520"/>
          </a:xfrm>
          <a:prstGeom prst="rect">
            <a:avLst/>
          </a:prstGeom>
          <a:noFill/>
          <a:ln/>
        </p:spPr>
        <p:txBody>
          <a:bodyPr wrap="square" lIns="0" tIns="0" rIns="0" bIns="0" rtlCol="0" anchor="ctr"/>
          <a:lstStyle/>
          <a:p>
            <a:pPr algn="ctr" indent="0" marL="0">
              <a:buNone/>
            </a:pPr>
            <a:r>
              <a:rPr lang="en-US" sz="3400" b="1" dirty="0">
                <a:solidFill>
                  <a:srgbClr val="F29A2E"/>
                </a:solidFill>
                <a:latin typeface="Arial" pitchFamily="34" charset="0"/>
                <a:ea typeface="Arial" pitchFamily="34" charset="-122"/>
                <a:cs typeface="Arial" pitchFamily="34" charset="-120"/>
              </a:rPr>
              <a:t>0.999</a:t>
            </a:r>
            <a:endParaRPr lang="en-US" sz="3400" dirty="0"/>
          </a:p>
        </p:txBody>
      </p:sp>
      <p:sp>
        <p:nvSpPr>
          <p:cNvPr id="16" name="Text 12"/>
          <p:cNvSpPr txBox="1"/>
          <p:nvPr/>
        </p:nvSpPr>
        <p:spPr>
          <a:xfrm>
            <a:off x="5715000" y="5440680"/>
            <a:ext cx="1737360" cy="365760"/>
          </a:xfrm>
          <a:prstGeom prst="rect">
            <a:avLst/>
          </a:prstGeom>
          <a:noFill/>
          <a:ln/>
        </p:spPr>
        <p:txBody>
          <a:bodyPr wrap="square" lIns="0" tIns="0" rIns="0" bIns="0" rtlCol="0" anchor="ctr"/>
          <a:lstStyle/>
          <a:p>
            <a:pPr algn="ctr" indent="0" marL="0">
              <a:buNone/>
            </a:pPr>
            <a:r>
              <a:rPr lang="en-US" sz="1300" dirty="0">
                <a:solidFill>
                  <a:srgbClr val="5B6B75"/>
                </a:solidFill>
                <a:latin typeface="Calibri" pitchFamily="34" charset="0"/>
                <a:ea typeface="Calibri" pitchFamily="34" charset="-122"/>
                <a:cs typeface="Calibri" pitchFamily="34" charset="-120"/>
              </a:rPr>
              <a:t>test AUC</a:t>
            </a:r>
            <a:endParaRPr lang="en-US" sz="1300" dirty="0"/>
          </a:p>
        </p:txBody>
      </p:sp>
      <p:sp>
        <p:nvSpPr>
          <p:cNvPr id="17" name="Shape 13"/>
          <p:cNvSpPr/>
          <p:nvPr/>
        </p:nvSpPr>
        <p:spPr>
          <a:xfrm>
            <a:off x="7635240" y="4617720"/>
            <a:ext cx="1737360" cy="1371600"/>
          </a:xfrm>
          <a:prstGeom prst="roundRect">
            <a:avLst>
              <a:gd name="adj" fmla="val 5333"/>
            </a:avLst>
          </a:prstGeom>
          <a:solidFill>
            <a:srgbClr val="FFFFFF"/>
          </a:solidFill>
          <a:ln w="12700">
            <a:solidFill>
              <a:srgbClr val="FFFFFF"/>
            </a:solidFill>
            <a:prstDash val="solid"/>
          </a:ln>
        </p:spPr>
      </p:sp>
      <p:sp>
        <p:nvSpPr>
          <p:cNvPr id="18" name="Text 14"/>
          <p:cNvSpPr txBox="1"/>
          <p:nvPr/>
        </p:nvSpPr>
        <p:spPr>
          <a:xfrm>
            <a:off x="7635240" y="4709160"/>
            <a:ext cx="1737360" cy="731520"/>
          </a:xfrm>
          <a:prstGeom prst="rect">
            <a:avLst/>
          </a:prstGeom>
          <a:noFill/>
          <a:ln/>
        </p:spPr>
        <p:txBody>
          <a:bodyPr wrap="square" lIns="0" tIns="0" rIns="0" bIns="0" rtlCol="0" anchor="ctr"/>
          <a:lstStyle/>
          <a:p>
            <a:pPr algn="ctr" indent="0" marL="0">
              <a:buNone/>
            </a:pPr>
            <a:r>
              <a:rPr lang="en-US" sz="3400" b="1" dirty="0">
                <a:solidFill>
                  <a:srgbClr val="F29A2E"/>
                </a:solidFill>
                <a:latin typeface="Arial" pitchFamily="34" charset="0"/>
                <a:ea typeface="Arial" pitchFamily="34" charset="-122"/>
                <a:cs typeface="Arial" pitchFamily="34" charset="-120"/>
              </a:rPr>
              <a:t>1.00</a:t>
            </a:r>
            <a:endParaRPr lang="en-US" sz="3400" dirty="0"/>
          </a:p>
        </p:txBody>
      </p:sp>
      <p:sp>
        <p:nvSpPr>
          <p:cNvPr id="19" name="Text 15"/>
          <p:cNvSpPr txBox="1"/>
          <p:nvPr/>
        </p:nvSpPr>
        <p:spPr>
          <a:xfrm>
            <a:off x="7635240" y="5440680"/>
            <a:ext cx="1737360" cy="365760"/>
          </a:xfrm>
          <a:prstGeom prst="rect">
            <a:avLst/>
          </a:prstGeom>
          <a:noFill/>
          <a:ln/>
        </p:spPr>
        <p:txBody>
          <a:bodyPr wrap="square" lIns="0" tIns="0" rIns="0" bIns="0" rtlCol="0" anchor="ctr"/>
          <a:lstStyle/>
          <a:p>
            <a:pPr algn="ctr" indent="0" marL="0">
              <a:buNone/>
            </a:pPr>
            <a:r>
              <a:rPr lang="en-US" sz="1300" dirty="0">
                <a:solidFill>
                  <a:srgbClr val="5B6B75"/>
                </a:solidFill>
                <a:latin typeface="Calibri" pitchFamily="34" charset="0"/>
                <a:ea typeface="Calibri" pitchFamily="34" charset="-122"/>
                <a:cs typeface="Calibri" pitchFamily="34" charset="-120"/>
              </a:rPr>
              <a:t>recall</a:t>
            </a:r>
            <a:endParaRPr lang="en-US" sz="1300" dirty="0"/>
          </a:p>
        </p:txBody>
      </p:sp>
      <p:sp>
        <p:nvSpPr>
          <p:cNvPr id="20" name="Shape 16"/>
          <p:cNvSpPr/>
          <p:nvPr/>
        </p:nvSpPr>
        <p:spPr>
          <a:xfrm>
            <a:off x="9555480" y="4617720"/>
            <a:ext cx="1737360" cy="1371600"/>
          </a:xfrm>
          <a:prstGeom prst="roundRect">
            <a:avLst>
              <a:gd name="adj" fmla="val 5333"/>
            </a:avLst>
          </a:prstGeom>
          <a:solidFill>
            <a:srgbClr val="FFFFFF"/>
          </a:solidFill>
          <a:ln w="12700">
            <a:solidFill>
              <a:srgbClr val="FFFFFF"/>
            </a:solidFill>
            <a:prstDash val="solid"/>
          </a:ln>
        </p:spPr>
      </p:sp>
      <p:sp>
        <p:nvSpPr>
          <p:cNvPr id="21" name="Text 17"/>
          <p:cNvSpPr txBox="1"/>
          <p:nvPr/>
        </p:nvSpPr>
        <p:spPr>
          <a:xfrm>
            <a:off x="9555480" y="4709160"/>
            <a:ext cx="1737360" cy="731520"/>
          </a:xfrm>
          <a:prstGeom prst="rect">
            <a:avLst/>
          </a:prstGeom>
          <a:noFill/>
          <a:ln/>
        </p:spPr>
        <p:txBody>
          <a:bodyPr wrap="square" lIns="0" tIns="0" rIns="0" bIns="0" rtlCol="0" anchor="ctr"/>
          <a:lstStyle/>
          <a:p>
            <a:pPr algn="ctr" indent="0" marL="0">
              <a:buNone/>
            </a:pPr>
            <a:r>
              <a:rPr lang="en-US" sz="3400" b="1" dirty="0">
                <a:solidFill>
                  <a:srgbClr val="F29A2E"/>
                </a:solidFill>
                <a:latin typeface="Arial" pitchFamily="34" charset="0"/>
                <a:ea typeface="Arial" pitchFamily="34" charset="-122"/>
                <a:cs typeface="Arial" pitchFamily="34" charset="-120"/>
              </a:rPr>
              <a:t>0.81</a:t>
            </a:r>
            <a:endParaRPr lang="en-US" sz="3400" dirty="0"/>
          </a:p>
        </p:txBody>
      </p:sp>
      <p:sp>
        <p:nvSpPr>
          <p:cNvPr id="22" name="Text 18"/>
          <p:cNvSpPr txBox="1"/>
          <p:nvPr/>
        </p:nvSpPr>
        <p:spPr>
          <a:xfrm>
            <a:off x="9555480" y="5440680"/>
            <a:ext cx="1737360" cy="365760"/>
          </a:xfrm>
          <a:prstGeom prst="rect">
            <a:avLst/>
          </a:prstGeom>
          <a:noFill/>
          <a:ln/>
        </p:spPr>
        <p:txBody>
          <a:bodyPr wrap="square" lIns="0" tIns="0" rIns="0" bIns="0" rtlCol="0" anchor="ctr"/>
          <a:lstStyle/>
          <a:p>
            <a:pPr algn="ctr" indent="0" marL="0">
              <a:buNone/>
            </a:pPr>
            <a:r>
              <a:rPr lang="en-US" sz="1300" dirty="0">
                <a:solidFill>
                  <a:srgbClr val="5B6B75"/>
                </a:solidFill>
                <a:latin typeface="Calibri" pitchFamily="34" charset="0"/>
                <a:ea typeface="Calibri" pitchFamily="34" charset="-122"/>
                <a:cs typeface="Calibri" pitchFamily="34" charset="-120"/>
              </a:rPr>
              <a:t>precision</a:t>
            </a:r>
            <a:endParaRPr lang="en-US" sz="1300" dirty="0"/>
          </a:p>
        </p:txBody>
      </p:sp>
      <p:sp>
        <p:nvSpPr>
          <p:cNvPr id="23" name="Text 19"/>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Live demo: a corrupted 14 MB USB image</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13 deleted files, fragmented into up to 8 pieces, partly overwritten and bit-rotted.</a:t>
            </a:r>
            <a:endParaRPr lang="en-US" sz="1600" dirty="0"/>
          </a:p>
        </p:txBody>
      </p:sp>
      <p:sp>
        <p:nvSpPr>
          <p:cNvPr id="4" name="Shape 2"/>
          <p:cNvSpPr/>
          <p:nvPr/>
        </p:nvSpPr>
        <p:spPr>
          <a:xfrm>
            <a:off x="548640" y="1600200"/>
            <a:ext cx="6720840" cy="4796616"/>
          </a:xfrm>
          <a:prstGeom prst="rect">
            <a:avLst/>
          </a:prstGeom>
          <a:solidFill>
            <a:srgbClr val="FFFFFF"/>
          </a:solidFill>
          <a:ln w="12700">
            <a:solidFill>
              <a:srgbClr val="C9D6DA"/>
            </a:solidFill>
            <a:prstDash val="solid"/>
          </a:ln>
          <a:effectLst>
            <a:outerShdw sx="100000" sy="100000" kx="0" ky="0" algn="bl" rotWithShape="0" blurRad="101600" dist="38100" dir="54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548640" y="1600200"/>
            <a:ext cx="6720840" cy="4796616"/>
          </a:xfrm>
          <a:prstGeom prst="rect">
            <a:avLst/>
          </a:prstGeom>
        </p:spPr>
      </p:pic>
      <p:sp>
        <p:nvSpPr>
          <p:cNvPr id="6" name="Text 3"/>
          <p:cNvSpPr txBox="1"/>
          <p:nvPr/>
        </p:nvSpPr>
        <p:spPr>
          <a:xfrm>
            <a:off x="7680960" y="1600200"/>
            <a:ext cx="1463040" cy="685800"/>
          </a:xfrm>
          <a:prstGeom prst="rect">
            <a:avLst/>
          </a:prstGeom>
          <a:noFill/>
          <a:ln/>
        </p:spPr>
        <p:txBody>
          <a:bodyPr wrap="square" lIns="0" tIns="0" rIns="0" bIns="0" rtlCol="0" anchor="ctr"/>
          <a:lstStyle/>
          <a:p>
            <a:pPr indent="0" marL="0">
              <a:buNone/>
            </a:pPr>
            <a:r>
              <a:rPr lang="en-US" sz="3200" b="1" dirty="0">
                <a:solidFill>
                  <a:srgbClr val="1FA99A"/>
                </a:solidFill>
                <a:latin typeface="Arial" pitchFamily="34" charset="0"/>
                <a:ea typeface="Arial" pitchFamily="34" charset="-122"/>
                <a:cs typeface="Arial" pitchFamily="34" charset="-120"/>
              </a:rPr>
              <a:t>1,079</a:t>
            </a:r>
            <a:endParaRPr lang="en-US" sz="3200" dirty="0"/>
          </a:p>
        </p:txBody>
      </p:sp>
      <p:sp>
        <p:nvSpPr>
          <p:cNvPr id="7" name="Text 4"/>
          <p:cNvSpPr txBox="1"/>
          <p:nvPr/>
        </p:nvSpPr>
        <p:spPr>
          <a:xfrm>
            <a:off x="9189720" y="1600200"/>
            <a:ext cx="2468880" cy="685800"/>
          </a:xfrm>
          <a:prstGeom prst="rect">
            <a:avLst/>
          </a:prstGeom>
          <a:noFill/>
          <a:ln/>
        </p:spPr>
        <p:txBody>
          <a:bodyPr wrap="square" lIns="0" tIns="0" rIns="0" bIns="0" rtlCol="0" anchor="ctr"/>
          <a:lstStyle/>
          <a:p>
            <a:pPr indent="0" marL="0">
              <a:buNone/>
            </a:pPr>
            <a:r>
              <a:rPr lang="en-US" sz="1600" dirty="0">
                <a:solidFill>
                  <a:srgbClr val="1B2730"/>
                </a:solidFill>
                <a:latin typeface="Calibri" pitchFamily="34" charset="0"/>
                <a:ea typeface="Calibri" pitchFamily="34" charset="-122"/>
                <a:cs typeface="Calibri" pitchFamily="34" charset="-120"/>
              </a:rPr>
              <a:t>fragments found</a:t>
            </a:r>
            <a:endParaRPr lang="en-US" sz="1600" dirty="0"/>
          </a:p>
        </p:txBody>
      </p:sp>
      <p:sp>
        <p:nvSpPr>
          <p:cNvPr id="8" name="Text 5"/>
          <p:cNvSpPr txBox="1"/>
          <p:nvPr/>
        </p:nvSpPr>
        <p:spPr>
          <a:xfrm>
            <a:off x="7680960" y="2450592"/>
            <a:ext cx="1463040" cy="685800"/>
          </a:xfrm>
          <a:prstGeom prst="rect">
            <a:avLst/>
          </a:prstGeom>
          <a:noFill/>
          <a:ln/>
        </p:spPr>
        <p:txBody>
          <a:bodyPr wrap="square" lIns="0" tIns="0" rIns="0" bIns="0" rtlCol="0" anchor="ctr"/>
          <a:lstStyle/>
          <a:p>
            <a:pPr indent="0" marL="0">
              <a:buNone/>
            </a:pPr>
            <a:r>
              <a:rPr lang="en-US" sz="3200" b="1" dirty="0">
                <a:solidFill>
                  <a:srgbClr val="1FA99A"/>
                </a:solidFill>
                <a:latin typeface="Arial" pitchFamily="34" charset="0"/>
                <a:ea typeface="Arial" pitchFamily="34" charset="-122"/>
                <a:cs typeface="Arial" pitchFamily="34" charset="-120"/>
              </a:rPr>
              <a:t>18</a:t>
            </a:r>
            <a:endParaRPr lang="en-US" sz="3200" dirty="0"/>
          </a:p>
        </p:txBody>
      </p:sp>
      <p:sp>
        <p:nvSpPr>
          <p:cNvPr id="9" name="Text 6"/>
          <p:cNvSpPr txBox="1"/>
          <p:nvPr/>
        </p:nvSpPr>
        <p:spPr>
          <a:xfrm>
            <a:off x="9189720" y="2450592"/>
            <a:ext cx="2468880" cy="685800"/>
          </a:xfrm>
          <a:prstGeom prst="rect">
            <a:avLst/>
          </a:prstGeom>
          <a:noFill/>
          <a:ln/>
        </p:spPr>
        <p:txBody>
          <a:bodyPr wrap="square" lIns="0" tIns="0" rIns="0" bIns="0" rtlCol="0" anchor="ctr"/>
          <a:lstStyle/>
          <a:p>
            <a:pPr indent="0" marL="0">
              <a:buNone/>
            </a:pPr>
            <a:r>
              <a:rPr lang="en-US" sz="1600" dirty="0">
                <a:solidFill>
                  <a:srgbClr val="1B2730"/>
                </a:solidFill>
                <a:latin typeface="Calibri" pitchFamily="34" charset="0"/>
                <a:ea typeface="Calibri" pitchFamily="34" charset="-122"/>
                <a:cs typeface="Calibri" pitchFamily="34" charset="-120"/>
              </a:rPr>
              <a:t>candidate files</a:t>
            </a:r>
            <a:endParaRPr lang="en-US" sz="1600" dirty="0"/>
          </a:p>
        </p:txBody>
      </p:sp>
      <p:sp>
        <p:nvSpPr>
          <p:cNvPr id="10" name="Text 7"/>
          <p:cNvSpPr txBox="1"/>
          <p:nvPr/>
        </p:nvSpPr>
        <p:spPr>
          <a:xfrm>
            <a:off x="7680960" y="3300984"/>
            <a:ext cx="1463040" cy="685800"/>
          </a:xfrm>
          <a:prstGeom prst="rect">
            <a:avLst/>
          </a:prstGeom>
          <a:noFill/>
          <a:ln/>
        </p:spPr>
        <p:txBody>
          <a:bodyPr wrap="square" lIns="0" tIns="0" rIns="0" bIns="0" rtlCol="0" anchor="ctr"/>
          <a:lstStyle/>
          <a:p>
            <a:pPr indent="0" marL="0">
              <a:buNone/>
            </a:pPr>
            <a:r>
              <a:rPr lang="en-US" sz="3200" b="1" dirty="0">
                <a:solidFill>
                  <a:srgbClr val="1FA99A"/>
                </a:solidFill>
                <a:latin typeface="Arial" pitchFamily="34" charset="0"/>
                <a:ea typeface="Arial" pitchFamily="34" charset="-122"/>
                <a:cs typeface="Arial" pitchFamily="34" charset="-120"/>
              </a:rPr>
              <a:t>7</a:t>
            </a:r>
            <a:endParaRPr lang="en-US" sz="3200" dirty="0"/>
          </a:p>
        </p:txBody>
      </p:sp>
      <p:sp>
        <p:nvSpPr>
          <p:cNvPr id="11" name="Text 8"/>
          <p:cNvSpPr txBox="1"/>
          <p:nvPr/>
        </p:nvSpPr>
        <p:spPr>
          <a:xfrm>
            <a:off x="9189720" y="3300984"/>
            <a:ext cx="2468880" cy="685800"/>
          </a:xfrm>
          <a:prstGeom prst="rect">
            <a:avLst/>
          </a:prstGeom>
          <a:noFill/>
          <a:ln/>
        </p:spPr>
        <p:txBody>
          <a:bodyPr wrap="square" lIns="0" tIns="0" rIns="0" bIns="0" rtlCol="0" anchor="ctr"/>
          <a:lstStyle/>
          <a:p>
            <a:pPr indent="0" marL="0">
              <a:buNone/>
            </a:pPr>
            <a:r>
              <a:rPr lang="en-US" sz="1600" dirty="0">
                <a:solidFill>
                  <a:srgbClr val="1B2730"/>
                </a:solidFill>
                <a:latin typeface="Calibri" pitchFamily="34" charset="0"/>
                <a:ea typeface="Calibri" pitchFamily="34" charset="-122"/>
                <a:cs typeface="Calibri" pitchFamily="34" charset="-120"/>
              </a:rPr>
              <a:t>recovered (6 fully)</a:t>
            </a:r>
            <a:endParaRPr lang="en-US" sz="1600" dirty="0"/>
          </a:p>
        </p:txBody>
      </p:sp>
      <p:sp>
        <p:nvSpPr>
          <p:cNvPr id="12" name="Text 9"/>
          <p:cNvSpPr txBox="1"/>
          <p:nvPr/>
        </p:nvSpPr>
        <p:spPr>
          <a:xfrm>
            <a:off x="7680960" y="4151376"/>
            <a:ext cx="1463040" cy="685800"/>
          </a:xfrm>
          <a:prstGeom prst="rect">
            <a:avLst/>
          </a:prstGeom>
          <a:noFill/>
          <a:ln/>
        </p:spPr>
        <p:txBody>
          <a:bodyPr wrap="square" lIns="0" tIns="0" rIns="0" bIns="0" rtlCol="0" anchor="ctr"/>
          <a:lstStyle/>
          <a:p>
            <a:pPr indent="0" marL="0">
              <a:buNone/>
            </a:pPr>
            <a:r>
              <a:rPr lang="en-US" sz="3200" b="1" dirty="0">
                <a:solidFill>
                  <a:srgbClr val="1FA99A"/>
                </a:solidFill>
                <a:latin typeface="Arial" pitchFamily="34" charset="0"/>
                <a:ea typeface="Arial" pitchFamily="34" charset="-122"/>
                <a:cs typeface="Arial" pitchFamily="34" charset="-120"/>
              </a:rPr>
              <a:t>5</a:t>
            </a:r>
            <a:endParaRPr lang="en-US" sz="3200" dirty="0"/>
          </a:p>
        </p:txBody>
      </p:sp>
      <p:sp>
        <p:nvSpPr>
          <p:cNvPr id="13" name="Text 10"/>
          <p:cNvSpPr txBox="1"/>
          <p:nvPr/>
        </p:nvSpPr>
        <p:spPr>
          <a:xfrm>
            <a:off x="9189720" y="4151376"/>
            <a:ext cx="2468880" cy="685800"/>
          </a:xfrm>
          <a:prstGeom prst="rect">
            <a:avLst/>
          </a:prstGeom>
          <a:noFill/>
          <a:ln/>
        </p:spPr>
        <p:txBody>
          <a:bodyPr wrap="square" lIns="0" tIns="0" rIns="0" bIns="0" rtlCol="0" anchor="ctr"/>
          <a:lstStyle/>
          <a:p>
            <a:pPr indent="0" marL="0">
              <a:buNone/>
            </a:pPr>
            <a:r>
              <a:rPr lang="en-US" sz="1600" dirty="0">
                <a:solidFill>
                  <a:srgbClr val="1B2730"/>
                </a:solidFill>
                <a:latin typeface="Calibri" pitchFamily="34" charset="0"/>
                <a:ea typeface="Calibri" pitchFamily="34" charset="-122"/>
                <a:cs typeface="Calibri" pitchFamily="34" charset="-120"/>
              </a:rPr>
              <a:t>partial</a:t>
            </a:r>
            <a:endParaRPr lang="en-US" sz="1600" dirty="0"/>
          </a:p>
        </p:txBody>
      </p:sp>
      <p:sp>
        <p:nvSpPr>
          <p:cNvPr id="14" name="Text 11"/>
          <p:cNvSpPr txBox="1"/>
          <p:nvPr/>
        </p:nvSpPr>
        <p:spPr>
          <a:xfrm>
            <a:off x="7680960" y="5001768"/>
            <a:ext cx="1463040" cy="685800"/>
          </a:xfrm>
          <a:prstGeom prst="rect">
            <a:avLst/>
          </a:prstGeom>
          <a:noFill/>
          <a:ln/>
        </p:spPr>
        <p:txBody>
          <a:bodyPr wrap="square" lIns="0" tIns="0" rIns="0" bIns="0" rtlCol="0" anchor="ctr"/>
          <a:lstStyle/>
          <a:p>
            <a:pPr indent="0" marL="0">
              <a:buNone/>
            </a:pPr>
            <a:r>
              <a:rPr lang="en-US" sz="3200" b="1" dirty="0">
                <a:solidFill>
                  <a:srgbClr val="D0463F"/>
                </a:solidFill>
                <a:latin typeface="Arial" pitchFamily="34" charset="0"/>
                <a:ea typeface="Arial" pitchFamily="34" charset="-122"/>
                <a:cs typeface="Arial" pitchFamily="34" charset="-120"/>
              </a:rPr>
              <a:t>6</a:t>
            </a:r>
            <a:endParaRPr lang="en-US" sz="3200" dirty="0"/>
          </a:p>
        </p:txBody>
      </p:sp>
      <p:sp>
        <p:nvSpPr>
          <p:cNvPr id="15" name="Text 12"/>
          <p:cNvSpPr txBox="1"/>
          <p:nvPr/>
        </p:nvSpPr>
        <p:spPr>
          <a:xfrm>
            <a:off x="9189720" y="5001768"/>
            <a:ext cx="2468880" cy="685800"/>
          </a:xfrm>
          <a:prstGeom prst="rect">
            <a:avLst/>
          </a:prstGeom>
          <a:noFill/>
          <a:ln/>
        </p:spPr>
        <p:txBody>
          <a:bodyPr wrap="square" lIns="0" tIns="0" rIns="0" bIns="0" rtlCol="0" anchor="ctr"/>
          <a:lstStyle/>
          <a:p>
            <a:pPr indent="0" marL="0">
              <a:buNone/>
            </a:pPr>
            <a:r>
              <a:rPr lang="en-US" sz="1600" dirty="0">
                <a:solidFill>
                  <a:srgbClr val="1B2730"/>
                </a:solidFill>
                <a:latin typeface="Calibri" pitchFamily="34" charset="0"/>
                <a:ea typeface="Calibri" pitchFamily="34" charset="-122"/>
                <a:cs typeface="Calibri" pitchFamily="34" charset="-120"/>
              </a:rPr>
              <a:t>honestly unrecoverable</a:t>
            </a:r>
            <a:endParaRPr lang="en-US" sz="1600" dirty="0"/>
          </a:p>
        </p:txBody>
      </p:sp>
      <p:sp>
        <p:nvSpPr>
          <p:cNvPr id="16" name="Shape 13"/>
          <p:cNvSpPr/>
          <p:nvPr/>
        </p:nvSpPr>
        <p:spPr>
          <a:xfrm>
            <a:off x="7680960" y="5897880"/>
            <a:ext cx="3959352" cy="457200"/>
          </a:xfrm>
          <a:prstGeom prst="roundRect">
            <a:avLst>
              <a:gd name="adj" fmla="val 16000"/>
            </a:avLst>
          </a:prstGeom>
          <a:solidFill>
            <a:srgbClr val="DCF1E6"/>
          </a:solidFill>
          <a:ln w="12700">
            <a:solidFill>
              <a:srgbClr val="DCF1E6"/>
            </a:solidFill>
            <a:prstDash val="solid"/>
          </a:ln>
        </p:spPr>
      </p:sp>
      <p:sp>
        <p:nvSpPr>
          <p:cNvPr id="17" name="Text 14"/>
          <p:cNvSpPr txBox="1"/>
          <p:nvPr/>
        </p:nvSpPr>
        <p:spPr>
          <a:xfrm>
            <a:off x="7818120" y="5897880"/>
            <a:ext cx="3749040" cy="457200"/>
          </a:xfrm>
          <a:prstGeom prst="rect">
            <a:avLst/>
          </a:prstGeom>
          <a:noFill/>
          <a:ln/>
        </p:spPr>
        <p:txBody>
          <a:bodyPr wrap="square" lIns="0" tIns="0" rIns="0" bIns="0" rtlCol="0" anchor="ctr"/>
          <a:lstStyle/>
          <a:p>
            <a:pPr indent="0" marL="0">
              <a:buNone/>
            </a:pPr>
            <a:r>
              <a:rPr lang="en-US" sz="1400" b="1" dirty="0">
                <a:solidFill>
                  <a:srgbClr val="2E9E6B"/>
                </a:solidFill>
                <a:latin typeface="Calibri" pitchFamily="34" charset="0"/>
                <a:ea typeface="Calibri" pitchFamily="34" charset="-122"/>
                <a:cs typeface="Calibri" pitchFamily="34" charset="-120"/>
              </a:rPr>
              <a:t>Evidence SHA-256 verified unchanged</a:t>
            </a:r>
            <a:endParaRPr lang="en-US" sz="1400" dirty="0"/>
          </a:p>
        </p:txBody>
      </p:sp>
      <p:sp>
        <p:nvSpPr>
          <p:cNvPr id="18" name="Text 15"/>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Every number is explained</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File view for Project_Proposal_v3.docx: partly overwritten, but the document text is fully verified.</a:t>
            </a:r>
            <a:endParaRPr lang="en-US" sz="1600" dirty="0"/>
          </a:p>
        </p:txBody>
      </p:sp>
      <p:sp>
        <p:nvSpPr>
          <p:cNvPr id="4" name="Shape 2"/>
          <p:cNvSpPr/>
          <p:nvPr/>
        </p:nvSpPr>
        <p:spPr>
          <a:xfrm>
            <a:off x="548640" y="1600200"/>
            <a:ext cx="6720840" cy="4545630"/>
          </a:xfrm>
          <a:prstGeom prst="rect">
            <a:avLst/>
          </a:prstGeom>
          <a:solidFill>
            <a:srgbClr val="FFFFFF"/>
          </a:solidFill>
          <a:ln w="12700">
            <a:solidFill>
              <a:srgbClr val="C9D6DA"/>
            </a:solidFill>
            <a:prstDash val="solid"/>
          </a:ln>
          <a:effectLst>
            <a:outerShdw sx="100000" sy="100000" kx="0" ky="0" algn="bl" rotWithShape="0" blurRad="101600" dist="38100" dir="54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548640" y="1600200"/>
            <a:ext cx="6720840" cy="4545630"/>
          </a:xfrm>
          <a:prstGeom prst="rect">
            <a:avLst/>
          </a:prstGeom>
        </p:spPr>
      </p:pic>
      <p:sp>
        <p:nvSpPr>
          <p:cNvPr id="6" name="Shape 3"/>
          <p:cNvSpPr/>
          <p:nvPr/>
        </p:nvSpPr>
        <p:spPr>
          <a:xfrm>
            <a:off x="7680960" y="1645920"/>
            <a:ext cx="594360" cy="594360"/>
          </a:xfrm>
          <a:prstGeom prst="ellipse">
            <a:avLst/>
          </a:prstGeom>
          <a:solidFill>
            <a:srgbClr val="1FA99A"/>
          </a:solidFill>
          <a:ln w="12700">
            <a:solidFill>
              <a:srgbClr val="1FA99A"/>
            </a:solidFill>
            <a:prstDash val="solid"/>
          </a:ln>
        </p:spPr>
      </p:sp>
      <p:pic>
        <p:nvPicPr>
          <p:cNvPr id="7" name="Image 1" descr="preencoded.png">    </p:cNvPr>
          <p:cNvPicPr>
            <a:picLocks noChangeAspect="1"/>
          </p:cNvPicPr>
          <p:nvPr/>
        </p:nvPicPr>
        <p:blipFill>
          <a:blip r:embed="rId2"/>
          <a:stretch>
            <a:fillRect/>
          </a:stretch>
        </p:blipFill>
        <p:spPr>
          <a:xfrm>
            <a:off x="7829550" y="1794510"/>
            <a:ext cx="297180" cy="297180"/>
          </a:xfrm>
          <a:prstGeom prst="rect">
            <a:avLst/>
          </a:prstGeom>
        </p:spPr>
      </p:pic>
      <p:sp>
        <p:nvSpPr>
          <p:cNvPr id="8" name="Text 4"/>
          <p:cNvSpPr txBox="1"/>
          <p:nvPr/>
        </p:nvSpPr>
        <p:spPr>
          <a:xfrm>
            <a:off x="8412480" y="1645920"/>
            <a:ext cx="3246120" cy="411480"/>
          </a:xfrm>
          <a:prstGeom prst="rect">
            <a:avLst/>
          </a:prstGeom>
          <a:noFill/>
          <a:ln/>
        </p:spPr>
        <p:txBody>
          <a:bodyPr wrap="square" lIns="0" tIns="0" rIns="0" bIns="0" rtlCol="0" anchor="ctr"/>
          <a:lstStyle/>
          <a:p>
            <a:pPr indent="0" marL="0">
              <a:buNone/>
            </a:pPr>
            <a:r>
              <a:rPr lang="en-US" sz="1700" b="1" dirty="0">
                <a:solidFill>
                  <a:srgbClr val="0F3B4C"/>
                </a:solidFill>
                <a:latin typeface="Arial" pitchFamily="34" charset="0"/>
                <a:ea typeface="Arial" pitchFamily="34" charset="-122"/>
                <a:cs typeface="Arial" pitchFamily="34" charset="-120"/>
              </a:rPr>
              <a:t>Four separate scores</a:t>
            </a:r>
            <a:endParaRPr lang="en-US" sz="1700" dirty="0"/>
          </a:p>
        </p:txBody>
      </p:sp>
      <p:sp>
        <p:nvSpPr>
          <p:cNvPr id="9" name="Text 5"/>
          <p:cNvSpPr txBox="1"/>
          <p:nvPr/>
        </p:nvSpPr>
        <p:spPr>
          <a:xfrm>
            <a:off x="8412480" y="2075688"/>
            <a:ext cx="3246120" cy="1051560"/>
          </a:xfrm>
          <a:prstGeom prst="rect">
            <a:avLst/>
          </a:prstGeom>
          <a:noFill/>
          <a:ln/>
        </p:spPr>
        <p:txBody>
          <a:bodyPr wrap="square" lIns="0" tIns="0" rIns="0" bIns="0" rtlCol="0" anchor="t"/>
          <a:lstStyle/>
          <a:p>
            <a:pPr indent="0" marL="0">
              <a:buNone/>
            </a:pPr>
            <a:r>
              <a:rPr lang="en-US" sz="1400" dirty="0">
                <a:solidFill>
                  <a:srgbClr val="1B2730"/>
                </a:solidFill>
                <a:latin typeface="Calibri" pitchFamily="34" charset="0"/>
                <a:ea typeface="Calibri" pitchFamily="34" charset="-122"/>
                <a:cs typeface="Calibri" pitchFamily="34" charset="-120"/>
              </a:rPr>
              <a:t>Integrity 85.5, reconstruction 68.8%, link 99.9%, content 100%. They are never merged into one number.</a:t>
            </a:r>
            <a:endParaRPr lang="en-US" sz="1400" dirty="0"/>
          </a:p>
        </p:txBody>
      </p:sp>
      <p:sp>
        <p:nvSpPr>
          <p:cNvPr id="10" name="Shape 6"/>
          <p:cNvSpPr/>
          <p:nvPr/>
        </p:nvSpPr>
        <p:spPr>
          <a:xfrm>
            <a:off x="7680960" y="3218688"/>
            <a:ext cx="594360" cy="594360"/>
          </a:xfrm>
          <a:prstGeom prst="ellipse">
            <a:avLst/>
          </a:prstGeom>
          <a:solidFill>
            <a:srgbClr val="1FA99A"/>
          </a:solidFill>
          <a:ln w="12700">
            <a:solidFill>
              <a:srgbClr val="1FA99A"/>
            </a:solidFill>
            <a:prstDash val="solid"/>
          </a:ln>
        </p:spPr>
      </p:sp>
      <p:pic>
        <p:nvPicPr>
          <p:cNvPr id="11" name="Image 2" descr="preencoded.png">    </p:cNvPr>
          <p:cNvPicPr>
            <a:picLocks noChangeAspect="1"/>
          </p:cNvPicPr>
          <p:nvPr/>
        </p:nvPicPr>
        <p:blipFill>
          <a:blip r:embed="rId3"/>
          <a:stretch>
            <a:fillRect/>
          </a:stretch>
        </p:blipFill>
        <p:spPr>
          <a:xfrm>
            <a:off x="7829550" y="3367278"/>
            <a:ext cx="297180" cy="297180"/>
          </a:xfrm>
          <a:prstGeom prst="rect">
            <a:avLst/>
          </a:prstGeom>
        </p:spPr>
      </p:pic>
      <p:sp>
        <p:nvSpPr>
          <p:cNvPr id="12" name="Text 7"/>
          <p:cNvSpPr txBox="1"/>
          <p:nvPr/>
        </p:nvSpPr>
        <p:spPr>
          <a:xfrm>
            <a:off x="8412480" y="3218688"/>
            <a:ext cx="3246120" cy="411480"/>
          </a:xfrm>
          <a:prstGeom prst="rect">
            <a:avLst/>
          </a:prstGeom>
          <a:noFill/>
          <a:ln/>
        </p:spPr>
        <p:txBody>
          <a:bodyPr wrap="square" lIns="0" tIns="0" rIns="0" bIns="0" rtlCol="0" anchor="ctr"/>
          <a:lstStyle/>
          <a:p>
            <a:pPr indent="0" marL="0">
              <a:buNone/>
            </a:pPr>
            <a:r>
              <a:rPr lang="en-US" sz="1700" b="1" dirty="0">
                <a:solidFill>
                  <a:srgbClr val="0F3B4C"/>
                </a:solidFill>
                <a:latin typeface="Arial" pitchFamily="34" charset="0"/>
                <a:ea typeface="Arial" pitchFamily="34" charset="-122"/>
                <a:cs typeface="Arial" pitchFamily="34" charset="-120"/>
              </a:rPr>
              <a:t>"Why this status"</a:t>
            </a:r>
            <a:endParaRPr lang="en-US" sz="1700" dirty="0"/>
          </a:p>
        </p:txBody>
      </p:sp>
      <p:sp>
        <p:nvSpPr>
          <p:cNvPr id="13" name="Text 8"/>
          <p:cNvSpPr txBox="1"/>
          <p:nvPr/>
        </p:nvSpPr>
        <p:spPr>
          <a:xfrm>
            <a:off x="8412480" y="3648456"/>
            <a:ext cx="3246120" cy="1051560"/>
          </a:xfrm>
          <a:prstGeom prst="rect">
            <a:avLst/>
          </a:prstGeom>
          <a:noFill/>
          <a:ln/>
        </p:spPr>
        <p:txBody>
          <a:bodyPr wrap="square" lIns="0" tIns="0" rIns="0" bIns="0" rtlCol="0" anchor="t"/>
          <a:lstStyle/>
          <a:p>
            <a:pPr indent="0" marL="0">
              <a:buNone/>
            </a:pPr>
            <a:r>
              <a:rPr lang="en-US" sz="1400" dirty="0">
                <a:solidFill>
                  <a:srgbClr val="1B2730"/>
                </a:solidFill>
                <a:latin typeface="Calibri" pitchFamily="34" charset="0"/>
                <a:ea typeface="Calibri" pitchFamily="34" charset="-122"/>
                <a:cs typeface="Calibri" pitchFamily="34" charset="-120"/>
              </a:rPr>
              <a:t>Names the deciding checks: 6/7 ZIP members pass their CRC-32.</a:t>
            </a:r>
            <a:endParaRPr lang="en-US" sz="1400" dirty="0"/>
          </a:p>
        </p:txBody>
      </p:sp>
      <p:sp>
        <p:nvSpPr>
          <p:cNvPr id="14" name="Shape 9"/>
          <p:cNvSpPr/>
          <p:nvPr/>
        </p:nvSpPr>
        <p:spPr>
          <a:xfrm>
            <a:off x="7680960" y="4791456"/>
            <a:ext cx="594360" cy="594360"/>
          </a:xfrm>
          <a:prstGeom prst="ellipse">
            <a:avLst/>
          </a:prstGeom>
          <a:solidFill>
            <a:srgbClr val="1FA99A"/>
          </a:solidFill>
          <a:ln w="12700">
            <a:solidFill>
              <a:srgbClr val="1FA99A"/>
            </a:solidFill>
            <a:prstDash val="solid"/>
          </a:ln>
        </p:spPr>
      </p:sp>
      <p:pic>
        <p:nvPicPr>
          <p:cNvPr id="15" name="Image 3" descr="preencoded.png">    </p:cNvPr>
          <p:cNvPicPr>
            <a:picLocks noChangeAspect="1"/>
          </p:cNvPicPr>
          <p:nvPr/>
        </p:nvPicPr>
        <p:blipFill>
          <a:blip r:embed="rId4"/>
          <a:stretch>
            <a:fillRect/>
          </a:stretch>
        </p:blipFill>
        <p:spPr>
          <a:xfrm>
            <a:off x="7829550" y="4940046"/>
            <a:ext cx="297180" cy="297180"/>
          </a:xfrm>
          <a:prstGeom prst="rect">
            <a:avLst/>
          </a:prstGeom>
        </p:spPr>
      </p:pic>
      <p:sp>
        <p:nvSpPr>
          <p:cNvPr id="16" name="Text 10"/>
          <p:cNvSpPr txBox="1"/>
          <p:nvPr/>
        </p:nvSpPr>
        <p:spPr>
          <a:xfrm>
            <a:off x="8412480" y="4791456"/>
            <a:ext cx="3246120" cy="411480"/>
          </a:xfrm>
          <a:prstGeom prst="rect">
            <a:avLst/>
          </a:prstGeom>
          <a:noFill/>
          <a:ln/>
        </p:spPr>
        <p:txBody>
          <a:bodyPr wrap="square" lIns="0" tIns="0" rIns="0" bIns="0" rtlCol="0" anchor="ctr"/>
          <a:lstStyle/>
          <a:p>
            <a:pPr indent="0" marL="0">
              <a:buNone/>
            </a:pPr>
            <a:r>
              <a:rPr lang="en-US" sz="1700" b="1" dirty="0">
                <a:solidFill>
                  <a:srgbClr val="0F3B4C"/>
                </a:solidFill>
                <a:latin typeface="Arial" pitchFamily="34" charset="0"/>
                <a:ea typeface="Arial" pitchFamily="34" charset="-122"/>
                <a:cs typeface="Arial" pitchFamily="34" charset="-120"/>
              </a:rPr>
              <a:t>Byte-level map</a:t>
            </a:r>
            <a:endParaRPr lang="en-US" sz="1700" dirty="0"/>
          </a:p>
        </p:txBody>
      </p:sp>
      <p:sp>
        <p:nvSpPr>
          <p:cNvPr id="17" name="Text 11"/>
          <p:cNvSpPr txBox="1"/>
          <p:nvPr/>
        </p:nvSpPr>
        <p:spPr>
          <a:xfrm>
            <a:off x="8412480" y="5221224"/>
            <a:ext cx="3246120" cy="1051560"/>
          </a:xfrm>
          <a:prstGeom prst="rect">
            <a:avLst/>
          </a:prstGeom>
          <a:noFill/>
          <a:ln/>
        </p:spPr>
        <p:txBody>
          <a:bodyPr wrap="square" lIns="0" tIns="0" rIns="0" bIns="0" rtlCol="0" anchor="t"/>
          <a:lstStyle/>
          <a:p>
            <a:pPr indent="0" marL="0">
              <a:buNone/>
            </a:pPr>
            <a:r>
              <a:rPr lang="en-US" sz="1400" dirty="0">
                <a:solidFill>
                  <a:srgbClr val="1B2730"/>
                </a:solidFill>
                <a:latin typeface="Calibri" pitchFamily="34" charset="0"/>
                <a:ea typeface="Calibri" pitchFamily="34" charset="-122"/>
                <a:cs typeface="Calibri" pitchFamily="34" charset="-120"/>
              </a:rPr>
              <a:t>Every range points to its source offset. Missing bytes are hatched and declared.</a:t>
            </a:r>
            <a:endParaRPr lang="en-US" sz="1400" dirty="0"/>
          </a:p>
        </p:txBody>
      </p:sp>
      <p:sp>
        <p:nvSpPr>
          <p:cNvPr id="18" name="Text 1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Relationship graph: how fragments were joined</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77 nodes and 125 relationships in the USB demo. Edges are labelled as inferred, not as facts.</a:t>
            </a:r>
            <a:endParaRPr lang="en-US" sz="1600" dirty="0"/>
          </a:p>
        </p:txBody>
      </p:sp>
      <p:sp>
        <p:nvSpPr>
          <p:cNvPr id="4" name="Shape 2"/>
          <p:cNvSpPr/>
          <p:nvPr/>
        </p:nvSpPr>
        <p:spPr>
          <a:xfrm>
            <a:off x="548640" y="1600200"/>
            <a:ext cx="5715000" cy="4572000"/>
          </a:xfrm>
          <a:prstGeom prst="rect">
            <a:avLst/>
          </a:prstGeom>
          <a:solidFill>
            <a:srgbClr val="FFFFFF"/>
          </a:solidFill>
          <a:ln w="12700">
            <a:solidFill>
              <a:srgbClr val="C9D6DA"/>
            </a:solidFill>
            <a:prstDash val="solid"/>
          </a:ln>
          <a:effectLst>
            <a:outerShdw sx="100000" sy="100000" kx="0" ky="0" algn="bl" rotWithShape="0" blurRad="101600" dist="38100" dir="54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548640" y="1600200"/>
            <a:ext cx="5715000" cy="4572000"/>
          </a:xfrm>
          <a:prstGeom prst="rect">
            <a:avLst/>
          </a:prstGeom>
        </p:spPr>
      </p:pic>
      <p:sp>
        <p:nvSpPr>
          <p:cNvPr id="6" name="Shape 3"/>
          <p:cNvSpPr/>
          <p:nvPr/>
        </p:nvSpPr>
        <p:spPr>
          <a:xfrm>
            <a:off x="6675120" y="1645920"/>
            <a:ext cx="4965192" cy="1024128"/>
          </a:xfrm>
          <a:prstGeom prst="roundRect">
            <a:avLst>
              <a:gd name="adj" fmla="val 7143"/>
            </a:avLst>
          </a:prstGeom>
          <a:solidFill>
            <a:srgbClr val="DDF2EF"/>
          </a:solidFill>
          <a:ln w="12700">
            <a:solidFill>
              <a:srgbClr val="DDF2EF"/>
            </a:solidFill>
            <a:prstDash val="solid"/>
          </a:ln>
        </p:spPr>
      </p:sp>
      <p:sp>
        <p:nvSpPr>
          <p:cNvPr id="7" name="Text 4"/>
          <p:cNvSpPr txBox="1"/>
          <p:nvPr/>
        </p:nvSpPr>
        <p:spPr>
          <a:xfrm>
            <a:off x="6903720" y="1737360"/>
            <a:ext cx="4572000" cy="365760"/>
          </a:xfrm>
          <a:prstGeom prst="rect">
            <a:avLst/>
          </a:prstGeom>
          <a:noFill/>
          <a:ln/>
        </p:spPr>
        <p:txBody>
          <a:bodyPr wrap="square" lIns="0" tIns="0" rIns="0" bIns="0" rtlCol="0" anchor="ctr"/>
          <a:lstStyle/>
          <a:p>
            <a:pPr indent="0" marL="0">
              <a:buNone/>
            </a:pPr>
            <a:r>
              <a:rPr lang="en-US" sz="1600" b="1" dirty="0">
                <a:solidFill>
                  <a:srgbClr val="0F3B4C"/>
                </a:solidFill>
                <a:latin typeface="Arial" pitchFamily="34" charset="0"/>
                <a:ea typeface="Arial" pitchFamily="34" charset="-122"/>
                <a:cs typeface="Arial" pitchFamily="34" charset="-120"/>
              </a:rPr>
              <a:t>Fragments → files</a:t>
            </a:r>
            <a:endParaRPr lang="en-US" sz="1600" dirty="0"/>
          </a:p>
        </p:txBody>
      </p:sp>
      <p:sp>
        <p:nvSpPr>
          <p:cNvPr id="8" name="Text 5"/>
          <p:cNvSpPr txBox="1"/>
          <p:nvPr/>
        </p:nvSpPr>
        <p:spPr>
          <a:xfrm>
            <a:off x="6903720" y="2103120"/>
            <a:ext cx="4572000" cy="502920"/>
          </a:xfrm>
          <a:prstGeom prst="rect">
            <a:avLst/>
          </a:prstGeom>
          <a:noFill/>
          <a:ln/>
        </p:spPr>
        <p:txBody>
          <a:bodyPr wrap="square" lIns="0" tIns="0" rIns="0" bIns="0" rtlCol="0" anchor="ctr"/>
          <a:lstStyle/>
          <a:p>
            <a:pPr indent="0" marL="0">
              <a:buNone/>
            </a:pPr>
            <a:r>
              <a:rPr lang="en-US" sz="1400" dirty="0">
                <a:solidFill>
                  <a:srgbClr val="1B2730"/>
                </a:solidFill>
                <a:latin typeface="Calibri" pitchFamily="34" charset="0"/>
                <a:ea typeface="Calibri" pitchFamily="34" charset="-122"/>
                <a:cs typeface="Calibri" pitchFamily="34" charset="-120"/>
              </a:rPr>
              <a:t>Links come from structure, metadata, content similarity and timestamps.</a:t>
            </a:r>
            <a:endParaRPr lang="en-US" sz="1400" dirty="0"/>
          </a:p>
        </p:txBody>
      </p:sp>
      <p:sp>
        <p:nvSpPr>
          <p:cNvPr id="9" name="Shape 6"/>
          <p:cNvSpPr/>
          <p:nvPr/>
        </p:nvSpPr>
        <p:spPr>
          <a:xfrm>
            <a:off x="6675120" y="2816352"/>
            <a:ext cx="4965192" cy="1024128"/>
          </a:xfrm>
          <a:prstGeom prst="roundRect">
            <a:avLst>
              <a:gd name="adj" fmla="val 7143"/>
            </a:avLst>
          </a:prstGeom>
          <a:solidFill>
            <a:srgbClr val="F2F7F8"/>
          </a:solidFill>
          <a:ln w="12700">
            <a:solidFill>
              <a:srgbClr val="F2F7F8"/>
            </a:solidFill>
            <a:prstDash val="solid"/>
          </a:ln>
        </p:spPr>
      </p:sp>
      <p:sp>
        <p:nvSpPr>
          <p:cNvPr id="10" name="Text 7"/>
          <p:cNvSpPr txBox="1"/>
          <p:nvPr/>
        </p:nvSpPr>
        <p:spPr>
          <a:xfrm>
            <a:off x="6903720" y="2907792"/>
            <a:ext cx="4572000" cy="365760"/>
          </a:xfrm>
          <a:prstGeom prst="rect">
            <a:avLst/>
          </a:prstGeom>
          <a:noFill/>
          <a:ln/>
        </p:spPr>
        <p:txBody>
          <a:bodyPr wrap="square" lIns="0" tIns="0" rIns="0" bIns="0" rtlCol="0" anchor="ctr"/>
          <a:lstStyle/>
          <a:p>
            <a:pPr indent="0" marL="0">
              <a:buNone/>
            </a:pPr>
            <a:r>
              <a:rPr lang="en-US" sz="1600" b="1" dirty="0">
                <a:solidFill>
                  <a:srgbClr val="0F3B4C"/>
                </a:solidFill>
                <a:latin typeface="Arial" pitchFamily="34" charset="0"/>
                <a:ea typeface="Arial" pitchFamily="34" charset="-122"/>
                <a:cs typeface="Arial" pitchFamily="34" charset="-120"/>
              </a:rPr>
              <a:t>Rejected alternatives</a:t>
            </a:r>
            <a:endParaRPr lang="en-US" sz="1600" dirty="0"/>
          </a:p>
        </p:txBody>
      </p:sp>
      <p:sp>
        <p:nvSpPr>
          <p:cNvPr id="11" name="Text 8"/>
          <p:cNvSpPr txBox="1"/>
          <p:nvPr/>
        </p:nvSpPr>
        <p:spPr>
          <a:xfrm>
            <a:off x="6903720" y="3273552"/>
            <a:ext cx="4572000" cy="502920"/>
          </a:xfrm>
          <a:prstGeom prst="rect">
            <a:avLst/>
          </a:prstGeom>
          <a:noFill/>
          <a:ln/>
        </p:spPr>
        <p:txBody>
          <a:bodyPr wrap="square" lIns="0" tIns="0" rIns="0" bIns="0" rtlCol="0" anchor="ctr"/>
          <a:lstStyle/>
          <a:p>
            <a:pPr indent="0" marL="0">
              <a:buNone/>
            </a:pPr>
            <a:r>
              <a:rPr lang="en-US" sz="1400" dirty="0">
                <a:solidFill>
                  <a:srgbClr val="1B2730"/>
                </a:solidFill>
                <a:latin typeface="Calibri" pitchFamily="34" charset="0"/>
                <a:ea typeface="Calibri" pitchFamily="34" charset="-122"/>
                <a:cs typeface="Calibri" pitchFamily="34" charset="-120"/>
              </a:rPr>
              <a:t>Shown in red with their scores, so a reviewer can challenge a join.</a:t>
            </a:r>
            <a:endParaRPr lang="en-US" sz="1400" dirty="0"/>
          </a:p>
        </p:txBody>
      </p:sp>
      <p:sp>
        <p:nvSpPr>
          <p:cNvPr id="12" name="Shape 9"/>
          <p:cNvSpPr/>
          <p:nvPr/>
        </p:nvSpPr>
        <p:spPr>
          <a:xfrm>
            <a:off x="6675120" y="3986784"/>
            <a:ext cx="4965192" cy="1024128"/>
          </a:xfrm>
          <a:prstGeom prst="roundRect">
            <a:avLst>
              <a:gd name="adj" fmla="val 7143"/>
            </a:avLst>
          </a:prstGeom>
          <a:solidFill>
            <a:srgbClr val="DDF2EF"/>
          </a:solidFill>
          <a:ln w="12700">
            <a:solidFill>
              <a:srgbClr val="DDF2EF"/>
            </a:solidFill>
            <a:prstDash val="solid"/>
          </a:ln>
        </p:spPr>
      </p:sp>
      <p:sp>
        <p:nvSpPr>
          <p:cNvPr id="13" name="Text 10"/>
          <p:cNvSpPr txBox="1"/>
          <p:nvPr/>
        </p:nvSpPr>
        <p:spPr>
          <a:xfrm>
            <a:off x="6903720" y="4078224"/>
            <a:ext cx="4572000" cy="365760"/>
          </a:xfrm>
          <a:prstGeom prst="rect">
            <a:avLst/>
          </a:prstGeom>
          <a:noFill/>
          <a:ln/>
        </p:spPr>
        <p:txBody>
          <a:bodyPr wrap="square" lIns="0" tIns="0" rIns="0" bIns="0" rtlCol="0" anchor="ctr"/>
          <a:lstStyle/>
          <a:p>
            <a:pPr indent="0" marL="0">
              <a:buNone/>
            </a:pPr>
            <a:r>
              <a:rPr lang="en-US" sz="1600" b="1" dirty="0">
                <a:solidFill>
                  <a:srgbClr val="0F3B4C"/>
                </a:solidFill>
                <a:latin typeface="Arial" pitchFamily="34" charset="0"/>
                <a:ea typeface="Arial" pitchFamily="34" charset="-122"/>
                <a:cs typeface="Arial" pitchFamily="34" charset="-120"/>
              </a:rPr>
              <a:t>Click any edge</a:t>
            </a:r>
            <a:endParaRPr lang="en-US" sz="1600" dirty="0"/>
          </a:p>
        </p:txBody>
      </p:sp>
      <p:sp>
        <p:nvSpPr>
          <p:cNvPr id="14" name="Text 11"/>
          <p:cNvSpPr txBox="1"/>
          <p:nvPr/>
        </p:nvSpPr>
        <p:spPr>
          <a:xfrm>
            <a:off x="6903720" y="4443984"/>
            <a:ext cx="4572000" cy="502920"/>
          </a:xfrm>
          <a:prstGeom prst="rect">
            <a:avLst/>
          </a:prstGeom>
          <a:noFill/>
          <a:ln/>
        </p:spPr>
        <p:txBody>
          <a:bodyPr wrap="square" lIns="0" tIns="0" rIns="0" bIns="0" rtlCol="0" anchor="ctr"/>
          <a:lstStyle/>
          <a:p>
            <a:pPr indent="0" marL="0">
              <a:buNone/>
            </a:pPr>
            <a:r>
              <a:rPr lang="en-US" sz="1400" dirty="0">
                <a:solidFill>
                  <a:srgbClr val="1B2730"/>
                </a:solidFill>
                <a:latin typeface="Calibri" pitchFamily="34" charset="0"/>
                <a:ea typeface="Calibri" pitchFamily="34" charset="-122"/>
                <a:cs typeface="Calibri" pitchFamily="34" charset="-120"/>
              </a:rPr>
              <a:t>Shows the evidence and each feature's contribution to the model score.</a:t>
            </a:r>
            <a:endParaRPr lang="en-US" sz="1400" dirty="0"/>
          </a:p>
        </p:txBody>
      </p:sp>
      <p:sp>
        <p:nvSpPr>
          <p:cNvPr id="15" name="Shape 12"/>
          <p:cNvSpPr/>
          <p:nvPr/>
        </p:nvSpPr>
        <p:spPr>
          <a:xfrm>
            <a:off x="6675120" y="5157216"/>
            <a:ext cx="4965192" cy="1024128"/>
          </a:xfrm>
          <a:prstGeom prst="roundRect">
            <a:avLst>
              <a:gd name="adj" fmla="val 7143"/>
            </a:avLst>
          </a:prstGeom>
          <a:solidFill>
            <a:srgbClr val="F2F7F8"/>
          </a:solidFill>
          <a:ln w="12700">
            <a:solidFill>
              <a:srgbClr val="F2F7F8"/>
            </a:solidFill>
            <a:prstDash val="solid"/>
          </a:ln>
        </p:spPr>
      </p:sp>
      <p:sp>
        <p:nvSpPr>
          <p:cNvPr id="16" name="Text 13"/>
          <p:cNvSpPr txBox="1"/>
          <p:nvPr/>
        </p:nvSpPr>
        <p:spPr>
          <a:xfrm>
            <a:off x="6903720" y="5248656"/>
            <a:ext cx="4572000" cy="365760"/>
          </a:xfrm>
          <a:prstGeom prst="rect">
            <a:avLst/>
          </a:prstGeom>
          <a:noFill/>
          <a:ln/>
        </p:spPr>
        <p:txBody>
          <a:bodyPr wrap="square" lIns="0" tIns="0" rIns="0" bIns="0" rtlCol="0" anchor="ctr"/>
          <a:lstStyle/>
          <a:p>
            <a:pPr indent="0" marL="0">
              <a:buNone/>
            </a:pPr>
            <a:r>
              <a:rPr lang="en-US" sz="1600" b="1" dirty="0">
                <a:solidFill>
                  <a:srgbClr val="0F3B4C"/>
                </a:solidFill>
                <a:latin typeface="Arial" pitchFamily="34" charset="0"/>
                <a:ea typeface="Arial" pitchFamily="34" charset="-122"/>
                <a:cs typeface="Arial" pitchFamily="34" charset="-120"/>
              </a:rPr>
              <a:t>Deleted directory entries</a:t>
            </a:r>
            <a:endParaRPr lang="en-US" sz="1600" dirty="0"/>
          </a:p>
        </p:txBody>
      </p:sp>
      <p:sp>
        <p:nvSpPr>
          <p:cNvPr id="17" name="Text 14"/>
          <p:cNvSpPr txBox="1"/>
          <p:nvPr/>
        </p:nvSpPr>
        <p:spPr>
          <a:xfrm>
            <a:off x="6903720" y="5614416"/>
            <a:ext cx="4572000" cy="502920"/>
          </a:xfrm>
          <a:prstGeom prst="rect">
            <a:avLst/>
          </a:prstGeom>
          <a:noFill/>
          <a:ln/>
        </p:spPr>
        <p:txBody>
          <a:bodyPr wrap="square" lIns="0" tIns="0" rIns="0" bIns="0" rtlCol="0" anchor="ctr"/>
          <a:lstStyle/>
          <a:p>
            <a:pPr indent="0" marL="0">
              <a:buNone/>
            </a:pPr>
            <a:r>
              <a:rPr lang="en-US" sz="1400" dirty="0">
                <a:solidFill>
                  <a:srgbClr val="1B2730"/>
                </a:solidFill>
                <a:latin typeface="Calibri" pitchFamily="34" charset="0"/>
                <a:ea typeface="Calibri" pitchFamily="34" charset="-122"/>
                <a:cs typeface="Calibri" pitchFamily="34" charset="-120"/>
              </a:rPr>
              <a:t>Deleted long file names are rebuilt, including the lost first character.</a:t>
            </a:r>
            <a:endParaRPr lang="en-US" sz="1400" dirty="0"/>
          </a:p>
        </p:txBody>
      </p:sp>
      <p:sp>
        <p:nvSpPr>
          <p:cNvPr id="18" name="Text 15"/>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Latest work: single-file validation and repair</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Same damaged PDF (corrupted_demo_report.pdf, 1.7 KB) before and after this round of development.</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498080" cy="914400"/>
        </p:xfrm>
        <a:graphic>
          <a:graphicData uri="http://schemas.openxmlformats.org/drawingml/2006/table">
            <a:tbl>
              <a:tblPr/>
              <a:tblGrid>
                <a:gridCol w="1645920"/>
                <a:gridCol w="2468880"/>
                <a:gridCol w="3383280"/>
              </a:tblGrid>
              <a:tr h="640080">
                <a:tc>
                  <a:txBody>
                    <a:bodyPr/>
                    <a:lstStyle/>
                    <a:p>
                      <a:pPr indent="0" marL="0">
                        <a:buNone/>
                      </a:pP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Before</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A3AEB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Now</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1FA99A"/>
                    </a:solidFill>
                  </a:tcPr>
                </a:tc>
              </a:tr>
              <a:tr h="640080">
                <a:tc>
                  <a:txBody>
                    <a:bodyPr/>
                    <a:lstStyle/>
                    <a:p>
                      <a:pPr indent="0" marL="0">
                        <a:buNone/>
                      </a:pPr>
                      <a:r>
                        <a:rPr lang="en-US" sz="1500" b="1" dirty="0">
                          <a:solidFill>
                            <a:srgbClr val="0F3B4C"/>
                          </a:solidFill>
                          <a:latin typeface="Calibri" pitchFamily="34" charset="0"/>
                          <a:ea typeface="Calibri" pitchFamily="34" charset="-122"/>
                          <a:cs typeface="Calibri" pitchFamily="34" charset="-120"/>
                        </a:rPr>
                        <a:t>Input type</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indent="0" marL="0">
                        <a:buNone/>
                      </a:pPr>
                      <a:r>
                        <a:rPr lang="en-US" sz="1500" dirty="0">
                          <a:solidFill>
                            <a:srgbClr val="5B6B75"/>
                          </a:solidFill>
                          <a:latin typeface="Calibri" pitchFamily="34" charset="0"/>
                          <a:ea typeface="Calibri" pitchFamily="34" charset="-122"/>
                          <a:cs typeface="Calibri" pitchFamily="34" charset="-120"/>
                        </a:rPr>
                        <a:t>UPLOADED IMAGE (wrong)</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UPLOADED FILE – PDF</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r>
              <a:tr h="640080">
                <a:tc>
                  <a:txBody>
                    <a:bodyPr/>
                    <a:lstStyle/>
                    <a:p>
                      <a:pPr indent="0" marL="0">
                        <a:buNone/>
                      </a:pPr>
                      <a:r>
                        <a:rPr lang="en-US" sz="1500" b="1" dirty="0">
                          <a:solidFill>
                            <a:srgbClr val="0F3B4C"/>
                          </a:solidFill>
                          <a:latin typeface="Calibri" pitchFamily="34" charset="0"/>
                          <a:ea typeface="Calibri" pitchFamily="34" charset="-122"/>
                          <a:cs typeface="Calibri" pitchFamily="34" charset="-120"/>
                        </a:rPr>
                        <a:t>Status</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indent="0" marL="0">
                        <a:buNone/>
                      </a:pPr>
                      <a:r>
                        <a:rPr lang="en-US" sz="1500" dirty="0">
                          <a:solidFill>
                            <a:srgbClr val="5B6B75"/>
                          </a:solidFill>
                          <a:latin typeface="Calibri" pitchFamily="34" charset="0"/>
                          <a:ea typeface="Calibri" pitchFamily="34" charset="-122"/>
                          <a:cs typeface="Calibri" pitchFamily="34" charset="-120"/>
                        </a:rPr>
                        <a:t>Uncertain, no reason</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Fragment only, with the deciding checks listed</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0F3B4C"/>
                          </a:solidFill>
                          <a:latin typeface="Calibri" pitchFamily="34" charset="0"/>
                          <a:ea typeface="Calibri" pitchFamily="34" charset="-122"/>
                          <a:cs typeface="Calibri" pitchFamily="34" charset="-120"/>
                        </a:rPr>
                        <a:t>Integrity</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indent="0" marL="0">
                        <a:buNone/>
                      </a:pPr>
                      <a:r>
                        <a:rPr lang="en-US" sz="1500" dirty="0">
                          <a:solidFill>
                            <a:srgbClr val="5B6B75"/>
                          </a:solidFill>
                          <a:latin typeface="Calibri" pitchFamily="34" charset="0"/>
                          <a:ea typeface="Calibri" pitchFamily="34" charset="-122"/>
                          <a:cs typeface="Calibri" pitchFamily="34" charset="-120"/>
                        </a:rPr>
                        <a:t>58 (generic guess)</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39 from 9 weighted PDF checks</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r>
              <a:tr h="640080">
                <a:tc>
                  <a:txBody>
                    <a:bodyPr/>
                    <a:lstStyle/>
                    <a:p>
                      <a:pPr indent="0" marL="0">
                        <a:buNone/>
                      </a:pPr>
                      <a:r>
                        <a:rPr lang="en-US" sz="1500" b="1" dirty="0">
                          <a:solidFill>
                            <a:srgbClr val="0F3B4C"/>
                          </a:solidFill>
                          <a:latin typeface="Calibri" pitchFamily="34" charset="0"/>
                          <a:ea typeface="Calibri" pitchFamily="34" charset="-122"/>
                          <a:cs typeface="Calibri" pitchFamily="34" charset="-120"/>
                        </a:rPr>
                        <a:t>Links / Recon</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indent="0" marL="0">
                        <a:buNone/>
                      </a:pPr>
                      <a:r>
                        <a:rPr lang="en-US" sz="1500" dirty="0">
                          <a:solidFill>
                            <a:srgbClr val="5B6B75"/>
                          </a:solidFill>
                          <a:latin typeface="Calibri" pitchFamily="34" charset="0"/>
                          <a:ea typeface="Calibri" pitchFamily="34" charset="-122"/>
                          <a:cs typeface="Calibri" pitchFamily="34" charset="-120"/>
                        </a:rPr>
                        <a:t>97% / "—"</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43% of references resolve / 100% contiguous</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0F3B4C"/>
                          </a:solidFill>
                          <a:latin typeface="Calibri" pitchFamily="34" charset="0"/>
                          <a:ea typeface="Calibri" pitchFamily="34" charset="-122"/>
                          <a:cs typeface="Calibri" pitchFamily="34" charset="-120"/>
                        </a:rPr>
                        <a:t>Coverage</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indent="0" marL="0">
                        <a:buNone/>
                      </a:pPr>
                      <a:r>
                        <a:rPr lang="en-US" sz="1500" dirty="0">
                          <a:solidFill>
                            <a:srgbClr val="5B6B75"/>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N/A with the reason stated</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r>
              <a:tr h="640080">
                <a:tc>
                  <a:txBody>
                    <a:bodyPr/>
                    <a:lstStyle/>
                    <a:p>
                      <a:pPr indent="0" marL="0">
                        <a:buNone/>
                      </a:pPr>
                      <a:r>
                        <a:rPr lang="en-US" sz="1500" b="1" dirty="0">
                          <a:solidFill>
                            <a:srgbClr val="0F3B4C"/>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indent="0" marL="0">
                        <a:buNone/>
                      </a:pPr>
                      <a:r>
                        <a:rPr lang="en-US" sz="1500" dirty="0">
                          <a:solidFill>
                            <a:srgbClr val="5B6B75"/>
                          </a:solidFill>
                          <a:latin typeface="Calibri" pitchFamily="34" charset="0"/>
                          <a:ea typeface="Calibri" pitchFamily="34" charset="-122"/>
                          <a:cs typeface="Calibri" pitchFamily="34" charset="-120"/>
                        </a:rPr>
                        <a:t>recovered_00000000.pdf</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Named copy + repaired copy (xref rebuilt)</a:t>
                      </a:r>
                      <a:endParaRPr lang="en-US" sz="15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r>
            </a:tbl>
          </a:graphicData>
        </a:graphic>
      </p:graphicFrame>
      <p:sp>
        <p:nvSpPr>
          <p:cNvPr id="5" name="Shape 2"/>
          <p:cNvSpPr/>
          <p:nvPr/>
        </p:nvSpPr>
        <p:spPr>
          <a:xfrm>
            <a:off x="8412480" y="1645920"/>
            <a:ext cx="3227832" cy="4526280"/>
          </a:xfrm>
          <a:prstGeom prst="roundRect">
            <a:avLst>
              <a:gd name="adj" fmla="val 2266"/>
            </a:avLst>
          </a:prstGeom>
          <a:solidFill>
            <a:srgbClr val="FDEBD3"/>
          </a:solidFill>
          <a:ln w="12700">
            <a:solidFill>
              <a:srgbClr val="FDEBD3"/>
            </a:solidFill>
            <a:prstDash val="solid"/>
          </a:ln>
        </p:spPr>
      </p:sp>
      <p:sp>
        <p:nvSpPr>
          <p:cNvPr id="6" name="Shape 3"/>
          <p:cNvSpPr/>
          <p:nvPr/>
        </p:nvSpPr>
        <p:spPr>
          <a:xfrm>
            <a:off x="8686800" y="1920240"/>
            <a:ext cx="640080" cy="640080"/>
          </a:xfrm>
          <a:prstGeom prst="ellipse">
            <a:avLst/>
          </a:prstGeom>
          <a:solidFill>
            <a:srgbClr val="F29A2E"/>
          </a:solidFill>
          <a:ln w="12700">
            <a:solidFill>
              <a:srgbClr val="F29A2E"/>
            </a:solidFill>
            <a:prstDash val="solid"/>
          </a:ln>
        </p:spPr>
      </p:sp>
      <p:pic>
        <p:nvPicPr>
          <p:cNvPr id="7" name="Image 0" descr="preencoded.png">    </p:cNvPr>
          <p:cNvPicPr>
            <a:picLocks noChangeAspect="1"/>
          </p:cNvPicPr>
          <p:nvPr/>
        </p:nvPicPr>
        <p:blipFill>
          <a:blip r:embed="rId1"/>
          <a:stretch>
            <a:fillRect/>
          </a:stretch>
        </p:blipFill>
        <p:spPr>
          <a:xfrm>
            <a:off x="8846820" y="2080260"/>
            <a:ext cx="320040" cy="320040"/>
          </a:xfrm>
          <a:prstGeom prst="rect">
            <a:avLst/>
          </a:prstGeom>
        </p:spPr>
      </p:pic>
      <p:sp>
        <p:nvSpPr>
          <p:cNvPr id="8" name="Text 4"/>
          <p:cNvSpPr txBox="1"/>
          <p:nvPr/>
        </p:nvSpPr>
        <p:spPr>
          <a:xfrm>
            <a:off x="8686800" y="2743200"/>
            <a:ext cx="2743200" cy="457200"/>
          </a:xfrm>
          <a:prstGeom prst="rect">
            <a:avLst/>
          </a:prstGeom>
          <a:noFill/>
          <a:ln/>
        </p:spPr>
        <p:txBody>
          <a:bodyPr wrap="square" lIns="0" tIns="0" rIns="0" bIns="0" rtlCol="0" anchor="ctr"/>
          <a:lstStyle/>
          <a:p>
            <a:pPr indent="0" marL="0">
              <a:buNone/>
            </a:pPr>
            <a:r>
              <a:rPr lang="en-US" sz="1700" b="1" dirty="0">
                <a:solidFill>
                  <a:srgbClr val="0F3B4C"/>
                </a:solidFill>
                <a:latin typeface="Arial" pitchFamily="34" charset="0"/>
                <a:ea typeface="Arial" pitchFamily="34" charset="-122"/>
                <a:cs typeface="Arial" pitchFamily="34" charset="-120"/>
              </a:rPr>
              <a:t>Why the score went down</a:t>
            </a:r>
            <a:endParaRPr lang="en-US" sz="1700" dirty="0"/>
          </a:p>
        </p:txBody>
      </p:sp>
      <p:sp>
        <p:nvSpPr>
          <p:cNvPr id="9" name="Text 5"/>
          <p:cNvSpPr txBox="1"/>
          <p:nvPr/>
        </p:nvSpPr>
        <p:spPr>
          <a:xfrm>
            <a:off x="8686800" y="3246120"/>
            <a:ext cx="2743200" cy="2743200"/>
          </a:xfrm>
          <a:prstGeom prst="rect">
            <a:avLst/>
          </a:prstGeom>
          <a:noFill/>
          <a:ln/>
        </p:spPr>
        <p:txBody>
          <a:bodyPr wrap="square" lIns="0" tIns="0" rIns="0" bIns="0" rtlCol="0" anchor="t"/>
          <a:lstStyle/>
          <a:p>
            <a:pPr indent="0" marL="0">
              <a:buNone/>
            </a:pPr>
            <a:r>
              <a:rPr lang="en-US" sz="1400" dirty="0">
                <a:solidFill>
                  <a:srgbClr val="1B2730"/>
                </a:solidFill>
                <a:latin typeface="Calibri" pitchFamily="34" charset="0"/>
                <a:ea typeface="Calibri" pitchFamily="34" charset="-122"/>
                <a:cs typeface="Calibri" pitchFamily="34" charset="-120"/>
              </a:rPr>
              <a:t>The file really is broken: 800 bytes were overwritten and the page cannot be displayed. The old 58 was too generous. The tool now shows exactly what is missing instead of guessing.</a:t>
            </a:r>
            <a:endParaRPr lang="en-US" sz="1400" dirty="0"/>
          </a:p>
        </p:txBody>
      </p:sp>
      <p:sp>
        <p:nvSpPr>
          <p:cNvPr id="10" name="Text 6"/>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Measured accuracy against hidden ground truth</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The demo generator records where every cluster really belongs. The engine never reads that record.</a:t>
            </a:r>
            <a:endParaRPr lang="en-US" sz="1600" dirty="0"/>
          </a:p>
        </p:txBody>
      </p:sp>
      <p:sp>
        <p:nvSpPr>
          <p:cNvPr id="4" name="Shape 2"/>
          <p:cNvSpPr/>
          <p:nvPr/>
        </p:nvSpPr>
        <p:spPr>
          <a:xfrm>
            <a:off x="548640" y="1645920"/>
            <a:ext cx="2606040" cy="1234440"/>
          </a:xfrm>
          <a:prstGeom prst="roundRect">
            <a:avLst>
              <a:gd name="adj" fmla="val 5926"/>
            </a:avLst>
          </a:prstGeom>
          <a:solidFill>
            <a:srgbClr val="DDF2EF"/>
          </a:solidFill>
          <a:ln w="12700">
            <a:solidFill>
              <a:srgbClr val="DDF2EF"/>
            </a:solidFill>
            <a:prstDash val="solid"/>
          </a:ln>
        </p:spPr>
      </p:sp>
      <p:sp>
        <p:nvSpPr>
          <p:cNvPr id="5" name="Text 3"/>
          <p:cNvSpPr txBox="1"/>
          <p:nvPr/>
        </p:nvSpPr>
        <p:spPr>
          <a:xfrm>
            <a:off x="731520" y="1691640"/>
            <a:ext cx="2240280" cy="731520"/>
          </a:xfrm>
          <a:prstGeom prst="rect">
            <a:avLst/>
          </a:prstGeom>
          <a:noFill/>
          <a:ln/>
        </p:spPr>
        <p:txBody>
          <a:bodyPr wrap="square" lIns="0" tIns="0" rIns="0" bIns="0" rtlCol="0" anchor="ctr"/>
          <a:lstStyle/>
          <a:p>
            <a:pPr indent="0" marL="0">
              <a:buNone/>
            </a:pPr>
            <a:r>
              <a:rPr lang="en-US" sz="3400" b="1" dirty="0">
                <a:solidFill>
                  <a:srgbClr val="0F3B4C"/>
                </a:solidFill>
                <a:latin typeface="Arial" pitchFamily="34" charset="0"/>
                <a:ea typeface="Arial" pitchFamily="34" charset="-122"/>
                <a:cs typeface="Arial" pitchFamily="34" charset="-120"/>
              </a:rPr>
              <a:t>100%</a:t>
            </a:r>
            <a:endParaRPr lang="en-US" sz="3400" dirty="0"/>
          </a:p>
        </p:txBody>
      </p:sp>
      <p:sp>
        <p:nvSpPr>
          <p:cNvPr id="6" name="Text 4"/>
          <p:cNvSpPr txBox="1"/>
          <p:nvPr/>
        </p:nvSpPr>
        <p:spPr>
          <a:xfrm>
            <a:off x="731520" y="2395728"/>
            <a:ext cx="2240280" cy="365760"/>
          </a:xfrm>
          <a:prstGeom prst="rect">
            <a:avLst/>
          </a:prstGeom>
          <a:noFill/>
          <a:ln/>
        </p:spPr>
        <p:txBody>
          <a:bodyPr wrap="square" lIns="0" tIns="0" rIns="0" bIns="0" rtlCol="0" anchor="ctr"/>
          <a:lstStyle/>
          <a:p>
            <a:pPr indent="0" marL="0">
              <a:buNone/>
            </a:pPr>
            <a:r>
              <a:rPr lang="en-US" sz="1400" dirty="0">
                <a:solidFill>
                  <a:srgbClr val="5B6B75"/>
                </a:solidFill>
                <a:latin typeface="Calibri" pitchFamily="34" charset="0"/>
                <a:ea typeface="Calibri" pitchFamily="34" charset="-122"/>
                <a:cs typeface="Calibri" pitchFamily="34" charset="-120"/>
              </a:rPr>
              <a:t>placement precision</a:t>
            </a:r>
            <a:endParaRPr lang="en-US" sz="1400" dirty="0"/>
          </a:p>
        </p:txBody>
      </p:sp>
      <p:sp>
        <p:nvSpPr>
          <p:cNvPr id="7" name="Shape 5"/>
          <p:cNvSpPr/>
          <p:nvPr/>
        </p:nvSpPr>
        <p:spPr>
          <a:xfrm>
            <a:off x="3364992" y="1645920"/>
            <a:ext cx="2606040" cy="1234440"/>
          </a:xfrm>
          <a:prstGeom prst="roundRect">
            <a:avLst>
              <a:gd name="adj" fmla="val 5926"/>
            </a:avLst>
          </a:prstGeom>
          <a:solidFill>
            <a:srgbClr val="DDF2EF"/>
          </a:solidFill>
          <a:ln w="12700">
            <a:solidFill>
              <a:srgbClr val="DDF2EF"/>
            </a:solidFill>
            <a:prstDash val="solid"/>
          </a:ln>
        </p:spPr>
      </p:sp>
      <p:sp>
        <p:nvSpPr>
          <p:cNvPr id="8" name="Text 6"/>
          <p:cNvSpPr txBox="1"/>
          <p:nvPr/>
        </p:nvSpPr>
        <p:spPr>
          <a:xfrm>
            <a:off x="3547872" y="1691640"/>
            <a:ext cx="2240280" cy="731520"/>
          </a:xfrm>
          <a:prstGeom prst="rect">
            <a:avLst/>
          </a:prstGeom>
          <a:noFill/>
          <a:ln/>
        </p:spPr>
        <p:txBody>
          <a:bodyPr wrap="square" lIns="0" tIns="0" rIns="0" bIns="0" rtlCol="0" anchor="ctr"/>
          <a:lstStyle/>
          <a:p>
            <a:pPr indent="0" marL="0">
              <a:buNone/>
            </a:pPr>
            <a:r>
              <a:rPr lang="en-US" sz="3400" b="1" dirty="0">
                <a:solidFill>
                  <a:srgbClr val="0F3B4C"/>
                </a:solidFill>
                <a:latin typeface="Arial" pitchFamily="34" charset="0"/>
                <a:ea typeface="Arial" pitchFamily="34" charset="-122"/>
                <a:cs typeface="Arial" pitchFamily="34" charset="-120"/>
              </a:rPr>
              <a:t>88.4%</a:t>
            </a:r>
            <a:endParaRPr lang="en-US" sz="3400" dirty="0"/>
          </a:p>
        </p:txBody>
      </p:sp>
      <p:sp>
        <p:nvSpPr>
          <p:cNvPr id="9" name="Text 7"/>
          <p:cNvSpPr txBox="1"/>
          <p:nvPr/>
        </p:nvSpPr>
        <p:spPr>
          <a:xfrm>
            <a:off x="3547872" y="2395728"/>
            <a:ext cx="2240280" cy="365760"/>
          </a:xfrm>
          <a:prstGeom prst="rect">
            <a:avLst/>
          </a:prstGeom>
          <a:noFill/>
          <a:ln/>
        </p:spPr>
        <p:txBody>
          <a:bodyPr wrap="square" lIns="0" tIns="0" rIns="0" bIns="0" rtlCol="0" anchor="ctr"/>
          <a:lstStyle/>
          <a:p>
            <a:pPr indent="0" marL="0">
              <a:buNone/>
            </a:pPr>
            <a:r>
              <a:rPr lang="en-US" sz="1400" dirty="0">
                <a:solidFill>
                  <a:srgbClr val="5B6B75"/>
                </a:solidFill>
                <a:latin typeface="Calibri" pitchFamily="34" charset="0"/>
                <a:ea typeface="Calibri" pitchFamily="34" charset="-122"/>
                <a:cs typeface="Calibri" pitchFamily="34" charset="-120"/>
              </a:rPr>
              <a:t>cluster recall</a:t>
            </a:r>
            <a:endParaRPr lang="en-US" sz="1400" dirty="0"/>
          </a:p>
        </p:txBody>
      </p:sp>
      <p:sp>
        <p:nvSpPr>
          <p:cNvPr id="10" name="Shape 8"/>
          <p:cNvSpPr/>
          <p:nvPr/>
        </p:nvSpPr>
        <p:spPr>
          <a:xfrm>
            <a:off x="6181344" y="1645920"/>
            <a:ext cx="2606040" cy="1234440"/>
          </a:xfrm>
          <a:prstGeom prst="roundRect">
            <a:avLst>
              <a:gd name="adj" fmla="val 5926"/>
            </a:avLst>
          </a:prstGeom>
          <a:solidFill>
            <a:srgbClr val="DDF2EF"/>
          </a:solidFill>
          <a:ln w="12700">
            <a:solidFill>
              <a:srgbClr val="DDF2EF"/>
            </a:solidFill>
            <a:prstDash val="solid"/>
          </a:ln>
        </p:spPr>
      </p:sp>
      <p:sp>
        <p:nvSpPr>
          <p:cNvPr id="11" name="Text 9"/>
          <p:cNvSpPr txBox="1"/>
          <p:nvPr/>
        </p:nvSpPr>
        <p:spPr>
          <a:xfrm>
            <a:off x="6364224" y="1691640"/>
            <a:ext cx="2240280" cy="731520"/>
          </a:xfrm>
          <a:prstGeom prst="rect">
            <a:avLst/>
          </a:prstGeom>
          <a:noFill/>
          <a:ln/>
        </p:spPr>
        <p:txBody>
          <a:bodyPr wrap="square" lIns="0" tIns="0" rIns="0" bIns="0" rtlCol="0" anchor="ctr"/>
          <a:lstStyle/>
          <a:p>
            <a:pPr indent="0" marL="0">
              <a:buNone/>
            </a:pPr>
            <a:r>
              <a:rPr lang="en-US" sz="3400" b="1" dirty="0">
                <a:solidFill>
                  <a:srgbClr val="0F3B4C"/>
                </a:solidFill>
                <a:latin typeface="Arial" pitchFamily="34" charset="0"/>
                <a:ea typeface="Arial" pitchFamily="34" charset="-122"/>
                <a:cs typeface="Arial" pitchFamily="34" charset="-120"/>
              </a:rPr>
              <a:t>100%</a:t>
            </a:r>
            <a:endParaRPr lang="en-US" sz="3400" dirty="0"/>
          </a:p>
        </p:txBody>
      </p:sp>
      <p:sp>
        <p:nvSpPr>
          <p:cNvPr id="12" name="Text 10"/>
          <p:cNvSpPr txBox="1"/>
          <p:nvPr/>
        </p:nvSpPr>
        <p:spPr>
          <a:xfrm>
            <a:off x="6364224" y="2395728"/>
            <a:ext cx="2240280" cy="365760"/>
          </a:xfrm>
          <a:prstGeom prst="rect">
            <a:avLst/>
          </a:prstGeom>
          <a:noFill/>
          <a:ln/>
        </p:spPr>
        <p:txBody>
          <a:bodyPr wrap="square" lIns="0" tIns="0" rIns="0" bIns="0" rtlCol="0" anchor="ctr"/>
          <a:lstStyle/>
          <a:p>
            <a:pPr indent="0" marL="0">
              <a:buNone/>
            </a:pPr>
            <a:r>
              <a:rPr lang="en-US" sz="1400" dirty="0">
                <a:solidFill>
                  <a:srgbClr val="5B6B75"/>
                </a:solidFill>
                <a:latin typeface="Calibri" pitchFamily="34" charset="0"/>
                <a:ea typeface="Calibri" pitchFamily="34" charset="-122"/>
                <a:cs typeface="Calibri" pitchFamily="34" charset="-120"/>
              </a:rPr>
              <a:t>link accuracy (26 links)</a:t>
            </a:r>
            <a:endParaRPr lang="en-US" sz="1400" dirty="0"/>
          </a:p>
        </p:txBody>
      </p:sp>
      <p:sp>
        <p:nvSpPr>
          <p:cNvPr id="13" name="Shape 11"/>
          <p:cNvSpPr/>
          <p:nvPr/>
        </p:nvSpPr>
        <p:spPr>
          <a:xfrm>
            <a:off x="8997696" y="1645920"/>
            <a:ext cx="2606040" cy="1234440"/>
          </a:xfrm>
          <a:prstGeom prst="roundRect">
            <a:avLst>
              <a:gd name="adj" fmla="val 5926"/>
            </a:avLst>
          </a:prstGeom>
          <a:solidFill>
            <a:srgbClr val="FDEBD3"/>
          </a:solidFill>
          <a:ln w="12700">
            <a:solidFill>
              <a:srgbClr val="FDEBD3"/>
            </a:solidFill>
            <a:prstDash val="solid"/>
          </a:ln>
        </p:spPr>
      </p:sp>
      <p:sp>
        <p:nvSpPr>
          <p:cNvPr id="14" name="Text 12"/>
          <p:cNvSpPr txBox="1"/>
          <p:nvPr/>
        </p:nvSpPr>
        <p:spPr>
          <a:xfrm>
            <a:off x="9180576" y="1691640"/>
            <a:ext cx="2240280" cy="731520"/>
          </a:xfrm>
          <a:prstGeom prst="rect">
            <a:avLst/>
          </a:prstGeom>
          <a:noFill/>
          <a:ln/>
        </p:spPr>
        <p:txBody>
          <a:bodyPr wrap="square" lIns="0" tIns="0" rIns="0" bIns="0" rtlCol="0" anchor="ctr"/>
          <a:lstStyle/>
          <a:p>
            <a:pPr indent="0" marL="0">
              <a:buNone/>
            </a:pPr>
            <a:r>
              <a:rPr lang="en-US" sz="3400" b="1" dirty="0">
                <a:solidFill>
                  <a:srgbClr val="F29A2E"/>
                </a:solidFill>
                <a:latin typeface="Arial" pitchFamily="34" charset="0"/>
                <a:ea typeface="Arial" pitchFamily="34" charset="-122"/>
                <a:cs typeface="Arial" pitchFamily="34" charset="-120"/>
              </a:rPr>
              <a:t>0 / 6</a:t>
            </a:r>
            <a:endParaRPr lang="en-US" sz="3400" dirty="0"/>
          </a:p>
        </p:txBody>
      </p:sp>
      <p:sp>
        <p:nvSpPr>
          <p:cNvPr id="15" name="Text 13"/>
          <p:cNvSpPr txBox="1"/>
          <p:nvPr/>
        </p:nvSpPr>
        <p:spPr>
          <a:xfrm>
            <a:off x="9180576" y="2395728"/>
            <a:ext cx="2240280" cy="365760"/>
          </a:xfrm>
          <a:prstGeom prst="rect">
            <a:avLst/>
          </a:prstGeom>
          <a:noFill/>
          <a:ln/>
        </p:spPr>
        <p:txBody>
          <a:bodyPr wrap="square" lIns="0" tIns="0" rIns="0" bIns="0" rtlCol="0" anchor="ctr"/>
          <a:lstStyle/>
          <a:p>
            <a:pPr indent="0" marL="0">
              <a:buNone/>
            </a:pPr>
            <a:r>
              <a:rPr lang="en-US" sz="1400" dirty="0">
                <a:solidFill>
                  <a:srgbClr val="5B6B75"/>
                </a:solidFill>
                <a:latin typeface="Calibri" pitchFamily="34" charset="0"/>
                <a:ea typeface="Calibri" pitchFamily="34" charset="-122"/>
                <a:cs typeface="Calibri" pitchFamily="34" charset="-120"/>
              </a:rPr>
              <a:t>bit flips detected</a:t>
            </a:r>
            <a:endParaRPr lang="en-US" sz="1400" dirty="0"/>
          </a:p>
        </p:txBody>
      </p:sp>
      <p:graphicFrame>
        <p:nvGraphicFramePr>
          <p:cNvPr id="16" name="Chart 0" descr=""/>
          <p:cNvGraphicFramePr/>
          <p:nvPr/>
        </p:nvGraphicFramePr>
        <p:xfrm>
          <a:off x="548640" y="3063240"/>
          <a:ext cx="11091672" cy="324612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Built for forensic trust</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The evidence is never modified, and every export is checked byte for byte.</a:t>
            </a:r>
            <a:endParaRPr lang="en-US" sz="1600" dirty="0"/>
          </a:p>
        </p:txBody>
      </p:sp>
      <p:sp>
        <p:nvSpPr>
          <p:cNvPr id="4" name="Shape 2"/>
          <p:cNvSpPr/>
          <p:nvPr/>
        </p:nvSpPr>
        <p:spPr>
          <a:xfrm>
            <a:off x="548640" y="1691640"/>
            <a:ext cx="3520440" cy="4526280"/>
          </a:xfrm>
          <a:prstGeom prst="roundRect">
            <a:avLst>
              <a:gd name="adj" fmla="val 2078"/>
            </a:avLst>
          </a:prstGeom>
          <a:solidFill>
            <a:srgbClr val="F2F7F8"/>
          </a:solidFill>
          <a:ln w="12700">
            <a:solidFill>
              <a:srgbClr val="F2F7F8"/>
            </a:solidFill>
            <a:prstDash val="solid"/>
          </a:ln>
        </p:spPr>
      </p:sp>
      <p:sp>
        <p:nvSpPr>
          <p:cNvPr id="5" name="Shape 3"/>
          <p:cNvSpPr/>
          <p:nvPr/>
        </p:nvSpPr>
        <p:spPr>
          <a:xfrm>
            <a:off x="822960" y="1920240"/>
            <a:ext cx="731520" cy="731520"/>
          </a:xfrm>
          <a:prstGeom prst="ellipse">
            <a:avLst/>
          </a:prstGeom>
          <a:solidFill>
            <a:srgbClr val="0F3B4C"/>
          </a:solidFill>
          <a:ln w="12700">
            <a:solidFill>
              <a:srgbClr val="0F3B4C"/>
            </a:solidFill>
            <a:prstDash val="solid"/>
          </a:ln>
        </p:spPr>
      </p:sp>
      <p:pic>
        <p:nvPicPr>
          <p:cNvPr id="6" name="Image 0" descr="preencoded.png">    </p:cNvPr>
          <p:cNvPicPr>
            <a:picLocks noChangeAspect="1"/>
          </p:cNvPicPr>
          <p:nvPr/>
        </p:nvPicPr>
        <p:blipFill>
          <a:blip r:embed="rId1"/>
          <a:stretch>
            <a:fillRect/>
          </a:stretch>
        </p:blipFill>
        <p:spPr>
          <a:xfrm>
            <a:off x="1005840" y="2103120"/>
            <a:ext cx="365760" cy="365760"/>
          </a:xfrm>
          <a:prstGeom prst="rect">
            <a:avLst/>
          </a:prstGeom>
        </p:spPr>
      </p:pic>
      <p:sp>
        <p:nvSpPr>
          <p:cNvPr id="7" name="Text 4"/>
          <p:cNvSpPr txBox="1"/>
          <p:nvPr/>
        </p:nvSpPr>
        <p:spPr>
          <a:xfrm>
            <a:off x="822960" y="2788920"/>
            <a:ext cx="301752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Evidence handling</a:t>
            </a:r>
            <a:endParaRPr lang="en-US" sz="1900" dirty="0"/>
          </a:p>
        </p:txBody>
      </p:sp>
      <p:sp>
        <p:nvSpPr>
          <p:cNvPr id="8" name="Text 5"/>
          <p:cNvSpPr txBox="1"/>
          <p:nvPr/>
        </p:nvSpPr>
        <p:spPr>
          <a:xfrm>
            <a:off x="822960" y="3383280"/>
            <a:ext cx="3017520" cy="2743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2730"/>
                </a:solidFill>
                <a:latin typeface="Calibri" pitchFamily="34" charset="0"/>
                <a:ea typeface="Calibri" pitchFamily="34" charset="-122"/>
                <a:cs typeface="Calibri" pitchFamily="34" charset="-120"/>
              </a:rPr>
              <a:t>Read-only copy, SHA-256 before and after analysis</a:t>
            </a:r>
            <a:endParaRPr lang="en-US" sz="1600" dirty="0"/>
          </a:p>
          <a:p>
            <a:pPr marL="342900" indent="-342900">
              <a:spcAft>
                <a:spcPts val="1200"/>
              </a:spcAft>
              <a:buSzPct val="100000"/>
              <a:buChar char="•"/>
            </a:pPr>
            <a:r>
              <a:rPr lang="en-US" sz="1600" dirty="0">
                <a:solidFill>
                  <a:srgbClr val="1B2730"/>
                </a:solidFill>
                <a:latin typeface="Calibri" pitchFamily="34" charset="0"/>
                <a:ea typeface="Calibri" pitchFamily="34" charset="-122"/>
                <a:cs typeface="Calibri" pitchFamily="34" charset="-120"/>
              </a:rPr>
              <a:t>Full provenance: fragments, offsets, hashes, model version</a:t>
            </a:r>
            <a:endParaRPr lang="en-US" sz="1600" dirty="0"/>
          </a:p>
          <a:p>
            <a:pPr marL="342900" indent="-342900">
              <a:spcAft>
                <a:spcPts val="1200"/>
              </a:spcAft>
              <a:buSzPct val="100000"/>
              <a:buChar char="•"/>
            </a:pPr>
            <a:r>
              <a:rPr lang="en-US" sz="1600" dirty="0">
                <a:solidFill>
                  <a:srgbClr val="1B2730"/>
                </a:solidFill>
                <a:latin typeface="Calibri" pitchFamily="34" charset="0"/>
                <a:ea typeface="Calibri" pitchFamily="34" charset="-122"/>
                <a:cs typeface="Calibri" pitchFamily="34" charset="-120"/>
              </a:rPr>
              <a:t>Every result labelled observed, derived, inferred, reconstructed or unverified</a:t>
            </a:r>
            <a:endParaRPr lang="en-US" sz="1600" dirty="0"/>
          </a:p>
        </p:txBody>
      </p:sp>
      <p:sp>
        <p:nvSpPr>
          <p:cNvPr id="9" name="Shape 6"/>
          <p:cNvSpPr/>
          <p:nvPr/>
        </p:nvSpPr>
        <p:spPr>
          <a:xfrm>
            <a:off x="4297680" y="1691640"/>
            <a:ext cx="3520440" cy="4526280"/>
          </a:xfrm>
          <a:prstGeom prst="roundRect">
            <a:avLst>
              <a:gd name="adj" fmla="val 2078"/>
            </a:avLst>
          </a:prstGeom>
          <a:solidFill>
            <a:srgbClr val="F2F7F8"/>
          </a:solidFill>
          <a:ln w="12700">
            <a:solidFill>
              <a:srgbClr val="F2F7F8"/>
            </a:solidFill>
            <a:prstDash val="solid"/>
          </a:ln>
        </p:spPr>
      </p:sp>
      <p:sp>
        <p:nvSpPr>
          <p:cNvPr id="10" name="Shape 7"/>
          <p:cNvSpPr/>
          <p:nvPr/>
        </p:nvSpPr>
        <p:spPr>
          <a:xfrm>
            <a:off x="4572000" y="1920240"/>
            <a:ext cx="731520" cy="731520"/>
          </a:xfrm>
          <a:prstGeom prst="ellipse">
            <a:avLst/>
          </a:prstGeom>
          <a:solidFill>
            <a:srgbClr val="0F3B4C"/>
          </a:solidFill>
          <a:ln w="12700">
            <a:solidFill>
              <a:srgbClr val="0F3B4C"/>
            </a:solidFill>
            <a:prstDash val="solid"/>
          </a:ln>
        </p:spPr>
      </p:sp>
      <p:pic>
        <p:nvPicPr>
          <p:cNvPr id="11" name="Image 1" descr="preencoded.png">    </p:cNvPr>
          <p:cNvPicPr>
            <a:picLocks noChangeAspect="1"/>
          </p:cNvPicPr>
          <p:nvPr/>
        </p:nvPicPr>
        <p:blipFill>
          <a:blip r:embed="rId2"/>
          <a:stretch>
            <a:fillRect/>
          </a:stretch>
        </p:blipFill>
        <p:spPr>
          <a:xfrm>
            <a:off x="4754880" y="2103120"/>
            <a:ext cx="365760" cy="365760"/>
          </a:xfrm>
          <a:prstGeom prst="rect">
            <a:avLst/>
          </a:prstGeom>
        </p:spPr>
      </p:pic>
      <p:sp>
        <p:nvSpPr>
          <p:cNvPr id="12" name="Text 8"/>
          <p:cNvSpPr txBox="1"/>
          <p:nvPr/>
        </p:nvSpPr>
        <p:spPr>
          <a:xfrm>
            <a:off x="4572000" y="2788920"/>
            <a:ext cx="301752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Export integrity</a:t>
            </a:r>
            <a:endParaRPr lang="en-US" sz="1900" dirty="0"/>
          </a:p>
        </p:txBody>
      </p:sp>
      <p:sp>
        <p:nvSpPr>
          <p:cNvPr id="13" name="Text 9"/>
          <p:cNvSpPr txBox="1"/>
          <p:nvPr/>
        </p:nvSpPr>
        <p:spPr>
          <a:xfrm>
            <a:off x="4572000" y="3383280"/>
            <a:ext cx="3017520" cy="2743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2730"/>
                </a:solidFill>
                <a:latin typeface="Calibri" pitchFamily="34" charset="0"/>
                <a:ea typeface="Calibri" pitchFamily="34" charset="-122"/>
                <a:cs typeface="Calibri" pitchFamily="34" charset="-120"/>
              </a:rPr>
              <a:t>Three export classes: validated file, partially validated, forensic byte artifact</a:t>
            </a:r>
            <a:endParaRPr lang="en-US" sz="1600" dirty="0"/>
          </a:p>
          <a:p>
            <a:pPr marL="342900" indent="-342900">
              <a:spcAft>
                <a:spcPts val="1200"/>
              </a:spcAft>
              <a:buSzPct val="100000"/>
              <a:buChar char="•"/>
            </a:pPr>
            <a:r>
              <a:rPr lang="en-US" sz="1600" dirty="0">
                <a:solidFill>
                  <a:srgbClr val="1B2730"/>
                </a:solidFill>
                <a:latin typeface="Calibri" pitchFamily="34" charset="0"/>
                <a:ea typeface="Calibri" pitchFamily="34" charset="-122"/>
                <a:cs typeface="Calibri" pitchFamily="34" charset="-120"/>
              </a:rPr>
              <a:t>Exports re-hashed on the server and again in the browser</a:t>
            </a:r>
            <a:endParaRPr lang="en-US" sz="1600" dirty="0"/>
          </a:p>
          <a:p>
            <a:pPr marL="342900" indent="-342900">
              <a:spcAft>
                <a:spcPts val="1200"/>
              </a:spcAft>
              <a:buSzPct val="100000"/>
              <a:buChar char="•"/>
            </a:pPr>
            <a:r>
              <a:rPr lang="en-US" sz="1600" dirty="0">
                <a:solidFill>
                  <a:srgbClr val="1B2730"/>
                </a:solidFill>
                <a:latin typeface="Calibri" pitchFamily="34" charset="0"/>
                <a:ea typeface="Calibri" pitchFamily="34" charset="-122"/>
                <a:cs typeface="Calibri" pitchFamily="34" charset="-120"/>
              </a:rPr>
              <a:t>Missing ranges declared, never silently passed off as recovered</a:t>
            </a:r>
            <a:endParaRPr lang="en-US" sz="1600" dirty="0"/>
          </a:p>
        </p:txBody>
      </p:sp>
      <p:sp>
        <p:nvSpPr>
          <p:cNvPr id="14" name="Shape 10"/>
          <p:cNvSpPr/>
          <p:nvPr/>
        </p:nvSpPr>
        <p:spPr>
          <a:xfrm>
            <a:off x="8046720" y="1691640"/>
            <a:ext cx="3520440" cy="4526280"/>
          </a:xfrm>
          <a:prstGeom prst="roundRect">
            <a:avLst>
              <a:gd name="adj" fmla="val 2078"/>
            </a:avLst>
          </a:prstGeom>
          <a:solidFill>
            <a:srgbClr val="F2F7F8"/>
          </a:solidFill>
          <a:ln w="12700">
            <a:solidFill>
              <a:srgbClr val="F2F7F8"/>
            </a:solidFill>
            <a:prstDash val="solid"/>
          </a:ln>
        </p:spPr>
      </p:sp>
      <p:sp>
        <p:nvSpPr>
          <p:cNvPr id="15" name="Shape 11"/>
          <p:cNvSpPr/>
          <p:nvPr/>
        </p:nvSpPr>
        <p:spPr>
          <a:xfrm>
            <a:off x="8321040" y="1920240"/>
            <a:ext cx="731520" cy="731520"/>
          </a:xfrm>
          <a:prstGeom prst="ellipse">
            <a:avLst/>
          </a:prstGeom>
          <a:solidFill>
            <a:srgbClr val="F29A2E"/>
          </a:solidFill>
          <a:ln w="12700">
            <a:solidFill>
              <a:srgbClr val="F29A2E"/>
            </a:solidFill>
            <a:prstDash val="solid"/>
          </a:ln>
        </p:spPr>
      </p:sp>
      <p:pic>
        <p:nvPicPr>
          <p:cNvPr id="16" name="Image 2" descr="preencoded.png">    </p:cNvPr>
          <p:cNvPicPr>
            <a:picLocks noChangeAspect="1"/>
          </p:cNvPicPr>
          <p:nvPr/>
        </p:nvPicPr>
        <p:blipFill>
          <a:blip r:embed="rId3"/>
          <a:stretch>
            <a:fillRect/>
          </a:stretch>
        </p:blipFill>
        <p:spPr>
          <a:xfrm>
            <a:off x="8503920" y="2103120"/>
            <a:ext cx="365760" cy="365760"/>
          </a:xfrm>
          <a:prstGeom prst="rect">
            <a:avLst/>
          </a:prstGeom>
        </p:spPr>
      </p:pic>
      <p:sp>
        <p:nvSpPr>
          <p:cNvPr id="17" name="Text 12"/>
          <p:cNvSpPr txBox="1"/>
          <p:nvPr/>
        </p:nvSpPr>
        <p:spPr>
          <a:xfrm>
            <a:off x="8321040" y="2788920"/>
            <a:ext cx="301752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Security scanning</a:t>
            </a:r>
            <a:endParaRPr lang="en-US" sz="1900" dirty="0"/>
          </a:p>
        </p:txBody>
      </p:sp>
      <p:sp>
        <p:nvSpPr>
          <p:cNvPr id="18" name="Text 13"/>
          <p:cNvSpPr txBox="1"/>
          <p:nvPr/>
        </p:nvSpPr>
        <p:spPr>
          <a:xfrm>
            <a:off x="8321040" y="3383280"/>
            <a:ext cx="3017520" cy="2743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2730"/>
                </a:solidFill>
                <a:latin typeface="Calibri" pitchFamily="34" charset="0"/>
                <a:ea typeface="Calibri" pitchFamily="34" charset="-122"/>
                <a:cs typeface="Calibri" pitchFamily="34" charset="-120"/>
              </a:rPr>
              <a:t>ClamAV interface plus YARA-style rules and static checks</a:t>
            </a:r>
            <a:endParaRPr lang="en-US" sz="1600" dirty="0"/>
          </a:p>
          <a:p>
            <a:pPr marL="342900" indent="-342900">
              <a:spcAft>
                <a:spcPts val="1200"/>
              </a:spcAft>
              <a:buSzPct val="100000"/>
              <a:buChar char="•"/>
            </a:pPr>
            <a:r>
              <a:rPr lang="en-US" sz="1600" dirty="0">
                <a:solidFill>
                  <a:srgbClr val="1B2730"/>
                </a:solidFill>
                <a:latin typeface="Calibri" pitchFamily="34" charset="0"/>
                <a:ea typeface="Calibri" pitchFamily="34" charset="-122"/>
                <a:cs typeface="Calibri" pitchFamily="34" charset="-120"/>
              </a:rPr>
              <a:t>No scanner means "NOT SCANNED", never "CLEAN"</a:t>
            </a:r>
            <a:endParaRPr lang="en-US" sz="1600" dirty="0"/>
          </a:p>
          <a:p>
            <a:pPr marL="342900" indent="-342900">
              <a:spcAft>
                <a:spcPts val="1200"/>
              </a:spcAft>
              <a:buSzPct val="100000"/>
              <a:buChar char="•"/>
            </a:pPr>
            <a:r>
              <a:rPr lang="en-US" sz="1600" dirty="0">
                <a:solidFill>
                  <a:srgbClr val="1B2730"/>
                </a:solidFill>
                <a:latin typeface="Calibri" pitchFamily="34" charset="0"/>
                <a:ea typeface="Calibri" pitchFamily="34" charset="-122"/>
                <a:cs typeface="Calibri" pitchFamily="34" charset="-120"/>
              </a:rPr>
              <a:t>Detected malware is quarantined and never opened</a:t>
            </a:r>
            <a:endParaRPr lang="en-US" sz="1600" dirty="0"/>
          </a:p>
        </p:txBody>
      </p:sp>
      <p:sp>
        <p:nvSpPr>
          <p:cNvPr id="19" name="Text 14"/>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How far we have developed</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rgbClr val="5B6B75"/>
                </a:solidFill>
                <a:latin typeface="Calibri" pitchFamily="34" charset="0"/>
                <a:ea typeface="Calibri" pitchFamily="34" charset="-122"/>
                <a:cs typeface="Calibri" pitchFamily="34" charset="-120"/>
              </a:rPr>
              <a:t>A working end-to-end prototype. Everything below runs today.</a:t>
            </a:r>
            <a:endParaRPr lang="en-US" sz="1600" dirty="0"/>
          </a:p>
        </p:txBody>
      </p:sp>
      <p:sp>
        <p:nvSpPr>
          <p:cNvPr id="4" name="Shape 2"/>
          <p:cNvSpPr/>
          <p:nvPr/>
        </p:nvSpPr>
        <p:spPr>
          <a:xfrm>
            <a:off x="548640" y="1645920"/>
            <a:ext cx="2148840" cy="1371600"/>
          </a:xfrm>
          <a:prstGeom prst="roundRect">
            <a:avLst>
              <a:gd name="adj" fmla="val 5333"/>
            </a:avLst>
          </a:prstGeom>
          <a:solidFill>
            <a:srgbClr val="DDF2EF"/>
          </a:solidFill>
          <a:ln w="12700">
            <a:solidFill>
              <a:srgbClr val="DDF2EF"/>
            </a:solidFill>
            <a:prstDash val="solid"/>
          </a:ln>
        </p:spPr>
      </p:sp>
      <p:sp>
        <p:nvSpPr>
          <p:cNvPr id="5" name="Text 3"/>
          <p:cNvSpPr txBox="1"/>
          <p:nvPr/>
        </p:nvSpPr>
        <p:spPr>
          <a:xfrm>
            <a:off x="713232" y="1783080"/>
            <a:ext cx="1828800" cy="685800"/>
          </a:xfrm>
          <a:prstGeom prst="rect">
            <a:avLst/>
          </a:prstGeom>
          <a:noFill/>
          <a:ln/>
        </p:spPr>
        <p:txBody>
          <a:bodyPr wrap="square" lIns="0" tIns="0" rIns="0" bIns="0" rtlCol="0" anchor="ctr"/>
          <a:lstStyle/>
          <a:p>
            <a:pPr indent="0" marL="0">
              <a:buNone/>
            </a:pPr>
            <a:r>
              <a:rPr lang="en-US" sz="2800" b="1" dirty="0">
                <a:solidFill>
                  <a:srgbClr val="0F3B4C"/>
                </a:solidFill>
                <a:latin typeface="Arial" pitchFamily="34" charset="0"/>
                <a:ea typeface="Arial" pitchFamily="34" charset="-122"/>
                <a:cs typeface="Arial" pitchFamily="34" charset="-120"/>
              </a:rPr>
              <a:t>8,300+</a:t>
            </a:r>
            <a:endParaRPr lang="en-US" sz="2800" dirty="0"/>
          </a:p>
        </p:txBody>
      </p:sp>
      <p:sp>
        <p:nvSpPr>
          <p:cNvPr id="6" name="Text 4"/>
          <p:cNvSpPr txBox="1"/>
          <p:nvPr/>
        </p:nvSpPr>
        <p:spPr>
          <a:xfrm>
            <a:off x="713232" y="2468880"/>
            <a:ext cx="1828800" cy="457200"/>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lines of Python engine</a:t>
            </a:r>
            <a:endParaRPr lang="en-US" sz="1300" dirty="0"/>
          </a:p>
        </p:txBody>
      </p:sp>
      <p:sp>
        <p:nvSpPr>
          <p:cNvPr id="7" name="Shape 5"/>
          <p:cNvSpPr/>
          <p:nvPr/>
        </p:nvSpPr>
        <p:spPr>
          <a:xfrm>
            <a:off x="2880360" y="1645920"/>
            <a:ext cx="2148840" cy="1371600"/>
          </a:xfrm>
          <a:prstGeom prst="roundRect">
            <a:avLst>
              <a:gd name="adj" fmla="val 5333"/>
            </a:avLst>
          </a:prstGeom>
          <a:solidFill>
            <a:srgbClr val="DDF2EF"/>
          </a:solidFill>
          <a:ln w="12700">
            <a:solidFill>
              <a:srgbClr val="DDF2EF"/>
            </a:solidFill>
            <a:prstDash val="solid"/>
          </a:ln>
        </p:spPr>
      </p:sp>
      <p:sp>
        <p:nvSpPr>
          <p:cNvPr id="8" name="Text 6"/>
          <p:cNvSpPr txBox="1"/>
          <p:nvPr/>
        </p:nvSpPr>
        <p:spPr>
          <a:xfrm>
            <a:off x="3044952" y="1783080"/>
            <a:ext cx="1828800" cy="685800"/>
          </a:xfrm>
          <a:prstGeom prst="rect">
            <a:avLst/>
          </a:prstGeom>
          <a:noFill/>
          <a:ln/>
        </p:spPr>
        <p:txBody>
          <a:bodyPr wrap="square" lIns="0" tIns="0" rIns="0" bIns="0" rtlCol="0" anchor="ctr"/>
          <a:lstStyle/>
          <a:p>
            <a:pPr indent="0" marL="0">
              <a:buNone/>
            </a:pPr>
            <a:r>
              <a:rPr lang="en-US" sz="2800" b="1" dirty="0">
                <a:solidFill>
                  <a:srgbClr val="0F3B4C"/>
                </a:solidFill>
                <a:latin typeface="Arial" pitchFamily="34" charset="0"/>
                <a:ea typeface="Arial" pitchFamily="34" charset="-122"/>
                <a:cs typeface="Arial" pitchFamily="34" charset="-120"/>
              </a:rPr>
              <a:t>2,900+</a:t>
            </a:r>
            <a:endParaRPr lang="en-US" sz="2800" dirty="0"/>
          </a:p>
        </p:txBody>
      </p:sp>
      <p:sp>
        <p:nvSpPr>
          <p:cNvPr id="9" name="Text 7"/>
          <p:cNvSpPr txBox="1"/>
          <p:nvPr/>
        </p:nvSpPr>
        <p:spPr>
          <a:xfrm>
            <a:off x="3044952" y="2468880"/>
            <a:ext cx="1828800" cy="457200"/>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lines of TypeScript UI</a:t>
            </a:r>
            <a:endParaRPr lang="en-US" sz="1300" dirty="0"/>
          </a:p>
        </p:txBody>
      </p:sp>
      <p:sp>
        <p:nvSpPr>
          <p:cNvPr id="10" name="Shape 8"/>
          <p:cNvSpPr/>
          <p:nvPr/>
        </p:nvSpPr>
        <p:spPr>
          <a:xfrm>
            <a:off x="548640" y="3182112"/>
            <a:ext cx="2148840" cy="1371600"/>
          </a:xfrm>
          <a:prstGeom prst="roundRect">
            <a:avLst>
              <a:gd name="adj" fmla="val 5333"/>
            </a:avLst>
          </a:prstGeom>
          <a:solidFill>
            <a:srgbClr val="DCF1E6"/>
          </a:solidFill>
          <a:ln w="12700">
            <a:solidFill>
              <a:srgbClr val="DCF1E6"/>
            </a:solidFill>
            <a:prstDash val="solid"/>
          </a:ln>
        </p:spPr>
      </p:sp>
      <p:sp>
        <p:nvSpPr>
          <p:cNvPr id="11" name="Text 9"/>
          <p:cNvSpPr txBox="1"/>
          <p:nvPr/>
        </p:nvSpPr>
        <p:spPr>
          <a:xfrm>
            <a:off x="713232" y="3319272"/>
            <a:ext cx="1828800" cy="685800"/>
          </a:xfrm>
          <a:prstGeom prst="rect">
            <a:avLst/>
          </a:prstGeom>
          <a:noFill/>
          <a:ln/>
        </p:spPr>
        <p:txBody>
          <a:bodyPr wrap="square" lIns="0" tIns="0" rIns="0" bIns="0" rtlCol="0" anchor="ctr"/>
          <a:lstStyle/>
          <a:p>
            <a:pPr indent="0" marL="0">
              <a:buNone/>
            </a:pPr>
            <a:r>
              <a:rPr lang="en-US" sz="2800" b="1" dirty="0">
                <a:solidFill>
                  <a:srgbClr val="2E9E6B"/>
                </a:solidFill>
                <a:latin typeface="Arial" pitchFamily="34" charset="0"/>
                <a:ea typeface="Arial" pitchFamily="34" charset="-122"/>
                <a:cs typeface="Arial" pitchFamily="34" charset="-120"/>
              </a:rPr>
              <a:t>53 / 53</a:t>
            </a:r>
            <a:endParaRPr lang="en-US" sz="2800" dirty="0"/>
          </a:p>
        </p:txBody>
      </p:sp>
      <p:sp>
        <p:nvSpPr>
          <p:cNvPr id="12" name="Text 10"/>
          <p:cNvSpPr txBox="1"/>
          <p:nvPr/>
        </p:nvSpPr>
        <p:spPr>
          <a:xfrm>
            <a:off x="713232" y="4005072"/>
            <a:ext cx="1828800" cy="457200"/>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automated tests passing</a:t>
            </a:r>
            <a:endParaRPr lang="en-US" sz="1300" dirty="0"/>
          </a:p>
        </p:txBody>
      </p:sp>
      <p:sp>
        <p:nvSpPr>
          <p:cNvPr id="13" name="Shape 11"/>
          <p:cNvSpPr/>
          <p:nvPr/>
        </p:nvSpPr>
        <p:spPr>
          <a:xfrm>
            <a:off x="2880360" y="3182112"/>
            <a:ext cx="2148840" cy="1371600"/>
          </a:xfrm>
          <a:prstGeom prst="roundRect">
            <a:avLst>
              <a:gd name="adj" fmla="val 5333"/>
            </a:avLst>
          </a:prstGeom>
          <a:solidFill>
            <a:srgbClr val="DDF2EF"/>
          </a:solidFill>
          <a:ln w="12700">
            <a:solidFill>
              <a:srgbClr val="DDF2EF"/>
            </a:solidFill>
            <a:prstDash val="solid"/>
          </a:ln>
        </p:spPr>
      </p:sp>
      <p:sp>
        <p:nvSpPr>
          <p:cNvPr id="14" name="Text 12"/>
          <p:cNvSpPr txBox="1"/>
          <p:nvPr/>
        </p:nvSpPr>
        <p:spPr>
          <a:xfrm>
            <a:off x="3044952" y="3319272"/>
            <a:ext cx="1828800" cy="685800"/>
          </a:xfrm>
          <a:prstGeom prst="rect">
            <a:avLst/>
          </a:prstGeom>
          <a:noFill/>
          <a:ln/>
        </p:spPr>
        <p:txBody>
          <a:bodyPr wrap="square" lIns="0" tIns="0" rIns="0" bIns="0" rtlCol="0" anchor="ctr"/>
          <a:lstStyle/>
          <a:p>
            <a:pPr indent="0" marL="0">
              <a:buNone/>
            </a:pPr>
            <a:r>
              <a:rPr lang="en-US" sz="2800" b="1" dirty="0">
                <a:solidFill>
                  <a:srgbClr val="0F3B4C"/>
                </a:solidFill>
                <a:latin typeface="Arial" pitchFamily="34" charset="0"/>
                <a:ea typeface="Arial" pitchFamily="34" charset="-122"/>
                <a:cs typeface="Arial" pitchFamily="34" charset="-120"/>
              </a:rPr>
              <a:t>20</a:t>
            </a:r>
            <a:endParaRPr lang="en-US" sz="2800" dirty="0"/>
          </a:p>
        </p:txBody>
      </p:sp>
      <p:sp>
        <p:nvSpPr>
          <p:cNvPr id="15" name="Text 13"/>
          <p:cNvSpPr txBox="1"/>
          <p:nvPr/>
        </p:nvSpPr>
        <p:spPr>
          <a:xfrm>
            <a:off x="3044952" y="4005072"/>
            <a:ext cx="1828800" cy="457200"/>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REST API endpoints</a:t>
            </a:r>
            <a:endParaRPr lang="en-US" sz="1300" dirty="0"/>
          </a:p>
        </p:txBody>
      </p:sp>
      <p:sp>
        <p:nvSpPr>
          <p:cNvPr id="16" name="Shape 14"/>
          <p:cNvSpPr/>
          <p:nvPr/>
        </p:nvSpPr>
        <p:spPr>
          <a:xfrm>
            <a:off x="548640" y="4718304"/>
            <a:ext cx="2148840" cy="1371600"/>
          </a:xfrm>
          <a:prstGeom prst="roundRect">
            <a:avLst>
              <a:gd name="adj" fmla="val 5333"/>
            </a:avLst>
          </a:prstGeom>
          <a:solidFill>
            <a:srgbClr val="DDF2EF"/>
          </a:solidFill>
          <a:ln w="12700">
            <a:solidFill>
              <a:srgbClr val="DDF2EF"/>
            </a:solidFill>
            <a:prstDash val="solid"/>
          </a:ln>
        </p:spPr>
      </p:sp>
      <p:sp>
        <p:nvSpPr>
          <p:cNvPr id="17" name="Text 15"/>
          <p:cNvSpPr txBox="1"/>
          <p:nvPr/>
        </p:nvSpPr>
        <p:spPr>
          <a:xfrm>
            <a:off x="713232" y="4855464"/>
            <a:ext cx="1828800" cy="685800"/>
          </a:xfrm>
          <a:prstGeom prst="rect">
            <a:avLst/>
          </a:prstGeom>
          <a:noFill/>
          <a:ln/>
        </p:spPr>
        <p:txBody>
          <a:bodyPr wrap="square" lIns="0" tIns="0" rIns="0" bIns="0" rtlCol="0" anchor="ctr"/>
          <a:lstStyle/>
          <a:p>
            <a:pPr indent="0" marL="0">
              <a:buNone/>
            </a:pPr>
            <a:r>
              <a:rPr lang="en-US" sz="2800" b="1" dirty="0">
                <a:solidFill>
                  <a:srgbClr val="0F3B4C"/>
                </a:solidFill>
                <a:latin typeface="Arial" pitchFamily="34" charset="0"/>
                <a:ea typeface="Arial" pitchFamily="34" charset="-122"/>
                <a:cs typeface="Arial" pitchFamily="34" charset="-120"/>
              </a:rPr>
              <a:t>13</a:t>
            </a:r>
            <a:endParaRPr lang="en-US" sz="2800" dirty="0"/>
          </a:p>
        </p:txBody>
      </p:sp>
      <p:sp>
        <p:nvSpPr>
          <p:cNvPr id="18" name="Text 16"/>
          <p:cNvSpPr txBox="1"/>
          <p:nvPr/>
        </p:nvSpPr>
        <p:spPr>
          <a:xfrm>
            <a:off x="713232" y="5541264"/>
            <a:ext cx="1828800" cy="457200"/>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UI screens</a:t>
            </a:r>
            <a:endParaRPr lang="en-US" sz="1300" dirty="0"/>
          </a:p>
        </p:txBody>
      </p:sp>
      <p:sp>
        <p:nvSpPr>
          <p:cNvPr id="19" name="Shape 17"/>
          <p:cNvSpPr/>
          <p:nvPr/>
        </p:nvSpPr>
        <p:spPr>
          <a:xfrm>
            <a:off x="2880360" y="4718304"/>
            <a:ext cx="2148840" cy="1371600"/>
          </a:xfrm>
          <a:prstGeom prst="roundRect">
            <a:avLst>
              <a:gd name="adj" fmla="val 5333"/>
            </a:avLst>
          </a:prstGeom>
          <a:solidFill>
            <a:srgbClr val="DDF2EF"/>
          </a:solidFill>
          <a:ln w="12700">
            <a:solidFill>
              <a:srgbClr val="DDF2EF"/>
            </a:solidFill>
            <a:prstDash val="solid"/>
          </a:ln>
        </p:spPr>
      </p:sp>
      <p:sp>
        <p:nvSpPr>
          <p:cNvPr id="20" name="Text 18"/>
          <p:cNvSpPr txBox="1"/>
          <p:nvPr/>
        </p:nvSpPr>
        <p:spPr>
          <a:xfrm>
            <a:off x="3044952" y="4855464"/>
            <a:ext cx="1828800" cy="685800"/>
          </a:xfrm>
          <a:prstGeom prst="rect">
            <a:avLst/>
          </a:prstGeom>
          <a:noFill/>
          <a:ln/>
        </p:spPr>
        <p:txBody>
          <a:bodyPr wrap="square" lIns="0" tIns="0" rIns="0" bIns="0" rtlCol="0" anchor="ctr"/>
          <a:lstStyle/>
          <a:p>
            <a:pPr indent="0" marL="0">
              <a:buNone/>
            </a:pPr>
            <a:r>
              <a:rPr lang="en-US" sz="2800" b="1" dirty="0">
                <a:solidFill>
                  <a:srgbClr val="0F3B4C"/>
                </a:solidFill>
                <a:latin typeface="Arial" pitchFamily="34" charset="0"/>
                <a:ea typeface="Arial" pitchFamily="34" charset="-122"/>
                <a:cs typeface="Arial" pitchFamily="34" charset="-120"/>
              </a:rPr>
              <a:t>9</a:t>
            </a:r>
            <a:endParaRPr lang="en-US" sz="2800" dirty="0"/>
          </a:p>
        </p:txBody>
      </p:sp>
      <p:sp>
        <p:nvSpPr>
          <p:cNvPr id="21" name="Text 19"/>
          <p:cNvSpPr txBox="1"/>
          <p:nvPr/>
        </p:nvSpPr>
        <p:spPr>
          <a:xfrm>
            <a:off x="3044952" y="5541264"/>
            <a:ext cx="1828800" cy="457200"/>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demo datasets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394960" y="1645920"/>
          <a:ext cx="6245352" cy="914400"/>
        </p:xfrm>
        <a:graphic>
          <a:graphicData uri="http://schemas.openxmlformats.org/drawingml/2006/table">
            <a:tbl>
              <a:tblPr/>
              <a:tblGrid>
                <a:gridCol w="5056632"/>
                <a:gridCol w="1188720"/>
              </a:tblGrid>
              <a:tr h="493776">
                <a:tc>
                  <a:txBody>
                    <a:bodyPr/>
                    <a:lstStyle/>
                    <a:p>
                      <a:pPr indent="0" marL="0">
                        <a:buNone/>
                      </a:pPr>
                      <a:r>
                        <a:rPr lang="en-US" sz="1300" dirty="0">
                          <a:solidFill>
                            <a:srgbClr val="1B2730"/>
                          </a:solidFill>
                          <a:latin typeface="Calibri" pitchFamily="34" charset="0"/>
                          <a:ea typeface="Calibri" pitchFamily="34" charset="-122"/>
                          <a:cs typeface="Calibri" pitchFamily="34" charset="-120"/>
                        </a:rPr>
                        <a:t>Evidence intake, hashing, input-type detection</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algn="ctr" indent="0" marL="0">
                        <a:buNone/>
                      </a:pPr>
                      <a:r>
                        <a:rPr lang="en-US" sz="1300" b="1" dirty="0">
                          <a:solidFill>
                            <a:srgbClr val="2E9E6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DCF1E6"/>
                    </a:solidFill>
                  </a:tcPr>
                </a:tc>
              </a:tr>
              <a:tr h="493776">
                <a:tc>
                  <a:txBody>
                    <a:bodyPr/>
                    <a:lstStyle/>
                    <a:p>
                      <a:pPr indent="0" marL="0">
                        <a:buNone/>
                      </a:pPr>
                      <a:r>
                        <a:rPr lang="en-US" sz="1300" dirty="0">
                          <a:solidFill>
                            <a:srgbClr val="1B2730"/>
                          </a:solidFill>
                          <a:latin typeface="Calibri" pitchFamily="34" charset="0"/>
                          <a:ea typeface="Calibri" pitchFamily="34" charset="-122"/>
                          <a:cs typeface="Calibri" pitchFamily="34" charset="-120"/>
                        </a:rPr>
                        <a:t>Scanner, fragment extraction, FAT deleted-entry recovery</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9E6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DCF1E6"/>
                    </a:solidFill>
                  </a:tcPr>
                </a:tc>
              </a:tr>
              <a:tr h="493776">
                <a:tc>
                  <a:txBody>
                    <a:bodyPr/>
                    <a:lstStyle/>
                    <a:p>
                      <a:pPr indent="0" marL="0">
                        <a:buNone/>
                      </a:pPr>
                      <a:r>
                        <a:rPr lang="en-US" sz="1300" dirty="0">
                          <a:solidFill>
                            <a:srgbClr val="1B2730"/>
                          </a:solidFill>
                          <a:latin typeface="Calibri" pitchFamily="34" charset="0"/>
                          <a:ea typeface="Calibri" pitchFamily="34" charset="-122"/>
                          <a:cs typeface="Calibri" pitchFamily="34" charset="-120"/>
                        </a:rPr>
                        <a:t>ML relationship model + graph</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algn="ctr" indent="0" marL="0">
                        <a:buNone/>
                      </a:pPr>
                      <a:r>
                        <a:rPr lang="en-US" sz="1300" b="1" dirty="0">
                          <a:solidFill>
                            <a:srgbClr val="2E9E6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DCF1E6"/>
                    </a:solidFill>
                  </a:tcPr>
                </a:tc>
              </a:tr>
              <a:tr h="493776">
                <a:tc>
                  <a:txBody>
                    <a:bodyPr/>
                    <a:lstStyle/>
                    <a:p>
                      <a:pPr indent="0" marL="0">
                        <a:buNone/>
                      </a:pPr>
                      <a:r>
                        <a:rPr lang="en-US" sz="1300" dirty="0">
                          <a:solidFill>
                            <a:srgbClr val="1B2730"/>
                          </a:solidFill>
                          <a:latin typeface="Calibri" pitchFamily="34" charset="0"/>
                          <a:ea typeface="Calibri" pitchFamily="34" charset="-122"/>
                          <a:cs typeface="Calibri" pitchFamily="34" charset="-120"/>
                        </a:rPr>
                        <a:t>Reconstruction: PDF, DOCX/ZIP, SQLite, JPEG, text/logs</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9E6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DCF1E6"/>
                    </a:solidFill>
                  </a:tcPr>
                </a:tc>
              </a:tr>
              <a:tr h="493776">
                <a:tc>
                  <a:txBody>
                    <a:bodyPr/>
                    <a:lstStyle/>
                    <a:p>
                      <a:pPr indent="0" marL="0">
                        <a:buNone/>
                      </a:pPr>
                      <a:r>
                        <a:rPr lang="en-US" sz="1300" dirty="0">
                          <a:solidFill>
                            <a:srgbClr val="1B2730"/>
                          </a:solidFill>
                          <a:latin typeface="Calibri" pitchFamily="34" charset="0"/>
                          <a:ea typeface="Calibri" pitchFamily="34" charset="-122"/>
                          <a:cs typeface="Calibri" pitchFamily="34" charset="-120"/>
                        </a:rPr>
                        <a:t>Validation (8 formats), scoring, priority, explanations</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algn="ctr" indent="0" marL="0">
                        <a:buNone/>
                      </a:pPr>
                      <a:r>
                        <a:rPr lang="en-US" sz="1300" b="1" dirty="0">
                          <a:solidFill>
                            <a:srgbClr val="2E9E6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DCF1E6"/>
                    </a:solidFill>
                  </a:tcPr>
                </a:tc>
              </a:tr>
              <a:tr h="493776">
                <a:tc>
                  <a:txBody>
                    <a:bodyPr/>
                    <a:lstStyle/>
                    <a:p>
                      <a:pPr indent="0" marL="0">
                        <a:buNone/>
                      </a:pPr>
                      <a:r>
                        <a:rPr lang="en-US" sz="1300" dirty="0">
                          <a:solidFill>
                            <a:srgbClr val="1B2730"/>
                          </a:solidFill>
                          <a:latin typeface="Calibri" pitchFamily="34" charset="0"/>
                          <a:ea typeface="Calibri" pitchFamily="34" charset="-122"/>
                          <a:cs typeface="Calibri" pitchFamily="34" charset="-120"/>
                        </a:rPr>
                        <a:t>Single-file PDF validation + repair</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9E6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DCF1E6"/>
                    </a:solidFill>
                  </a:tcPr>
                </a:tc>
              </a:tr>
              <a:tr h="493776">
                <a:tc>
                  <a:txBody>
                    <a:bodyPr/>
                    <a:lstStyle/>
                    <a:p>
                      <a:pPr indent="0" marL="0">
                        <a:buNone/>
                      </a:pPr>
                      <a:r>
                        <a:rPr lang="en-US" sz="1300" dirty="0">
                          <a:solidFill>
                            <a:srgbClr val="1B2730"/>
                          </a:solidFill>
                          <a:latin typeface="Calibri" pitchFamily="34" charset="0"/>
                          <a:ea typeface="Calibri" pitchFamily="34" charset="-122"/>
                          <a:cs typeface="Calibri" pitchFamily="34" charset="-120"/>
                        </a:rPr>
                        <a:t>Web UI, JSON report, audit trail, ground-truth check</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algn="ctr" indent="0" marL="0">
                        <a:buNone/>
                      </a:pPr>
                      <a:r>
                        <a:rPr lang="en-US" sz="1300" b="1" dirty="0">
                          <a:solidFill>
                            <a:srgbClr val="2E9E6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DCF1E6"/>
                    </a:solidFill>
                  </a:tcPr>
                </a:tc>
              </a:tr>
              <a:tr h="493776">
                <a:tc>
                  <a:txBody>
                    <a:bodyPr/>
                    <a:lstStyle/>
                    <a:p>
                      <a:pPr indent="0" marL="0">
                        <a:buNone/>
                      </a:pPr>
                      <a:r>
                        <a:rPr lang="en-US" sz="1300" dirty="0">
                          <a:solidFill>
                            <a:srgbClr val="1B2730"/>
                          </a:solidFill>
                          <a:latin typeface="Calibri" pitchFamily="34" charset="0"/>
                          <a:ea typeface="Calibri" pitchFamily="34" charset="-122"/>
                          <a:cs typeface="Calibri" pitchFamily="34" charset="-120"/>
                        </a:rPr>
                        <a:t>Malware scanning (needs ClamAV installed)</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29A2E"/>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DEBD3"/>
                    </a:solidFill>
                  </a:tcPr>
                </a:tc>
              </a:tr>
              <a:tr h="493776">
                <a:tc>
                  <a:txBody>
                    <a:bodyPr/>
                    <a:lstStyle/>
                    <a:p>
                      <a:pPr indent="0" marL="0">
                        <a:buNone/>
                      </a:pPr>
                      <a:r>
                        <a:rPr lang="en-US" sz="1300" dirty="0">
                          <a:solidFill>
                            <a:srgbClr val="1B2730"/>
                          </a:solidFill>
                          <a:latin typeface="Calibri" pitchFamily="34" charset="0"/>
                          <a:ea typeface="Calibri" pitchFamily="34" charset="-122"/>
                          <a:cs typeface="Calibri" pitchFamily="34" charset="-120"/>
                        </a:rPr>
                        <a:t>NTFS / ext4 parsers, MP4 / PNG rebuild, E01 images</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2F7F8"/>
                    </a:solidFill>
                  </a:tcPr>
                </a:tc>
                <a:tc>
                  <a:txBody>
                    <a:bodyPr/>
                    <a:lstStyle/>
                    <a:p>
                      <a:pPr algn="ctr" indent="0" marL="0">
                        <a:buNone/>
                      </a:pPr>
                      <a:r>
                        <a:rPr lang="en-US" sz="1300" b="1" dirty="0">
                          <a:solidFill>
                            <a:srgbClr val="5B6B75"/>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73152" marR="73152" marT="73152" marB="73152"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4E9EB"/>
                    </a:solidFill>
                  </a:tcPr>
                </a:tc>
              </a:tr>
            </a:tbl>
          </a:graphicData>
        </a:graphic>
      </p:graphicFrame>
      <p:sp>
        <p:nvSpPr>
          <p:cNvPr id="23" name="Text 20"/>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0F3B4C"/>
                </a:solidFill>
                <a:latin typeface="Arial" pitchFamily="34" charset="0"/>
                <a:ea typeface="Arial" pitchFamily="34" charset="-122"/>
                <a:cs typeface="Arial" pitchFamily="34" charset="-120"/>
              </a:rPr>
              <a:t>Honest limitations and next steps</a:t>
            </a:r>
            <a:endParaRPr lang="en-US" sz="3200" dirty="0"/>
          </a:p>
        </p:txBody>
      </p:sp>
      <p:sp>
        <p:nvSpPr>
          <p:cNvPr id="3" name="Shape 1"/>
          <p:cNvSpPr/>
          <p:nvPr/>
        </p:nvSpPr>
        <p:spPr>
          <a:xfrm>
            <a:off x="548640" y="1371600"/>
            <a:ext cx="5440680" cy="4846320"/>
          </a:xfrm>
          <a:prstGeom prst="roundRect">
            <a:avLst>
              <a:gd name="adj" fmla="val 1509"/>
            </a:avLst>
          </a:prstGeom>
          <a:solidFill>
            <a:srgbClr val="F8DEDC"/>
          </a:solidFill>
          <a:ln w="12700">
            <a:solidFill>
              <a:srgbClr val="F8DEDC"/>
            </a:solidFill>
            <a:prstDash val="solid"/>
          </a:ln>
        </p:spPr>
      </p:sp>
      <p:sp>
        <p:nvSpPr>
          <p:cNvPr id="4" name="Shape 2"/>
          <p:cNvSpPr/>
          <p:nvPr/>
        </p:nvSpPr>
        <p:spPr>
          <a:xfrm>
            <a:off x="822960" y="1645920"/>
            <a:ext cx="640080" cy="640080"/>
          </a:xfrm>
          <a:prstGeom prst="ellipse">
            <a:avLst/>
          </a:prstGeom>
          <a:solidFill>
            <a:srgbClr val="D0463F"/>
          </a:solidFill>
          <a:ln w="12700">
            <a:solidFill>
              <a:srgbClr val="D0463F"/>
            </a:solidFill>
            <a:prstDash val="solid"/>
          </a:ln>
        </p:spPr>
      </p:sp>
      <p:pic>
        <p:nvPicPr>
          <p:cNvPr id="5" name="Image 0"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00200" y="1737360"/>
            <a:ext cx="411480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Current limitations</a:t>
            </a:r>
            <a:endParaRPr lang="en-US" sz="1900" dirty="0"/>
          </a:p>
        </p:txBody>
      </p:sp>
      <p:sp>
        <p:nvSpPr>
          <p:cNvPr id="7" name="Text 4"/>
          <p:cNvSpPr txBox="1"/>
          <p:nvPr/>
        </p:nvSpPr>
        <p:spPr>
          <a:xfrm>
            <a:off x="822960" y="2560320"/>
            <a:ext cx="4937760" cy="347472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1B2730"/>
                </a:solidFill>
                <a:latin typeface="Calibri" pitchFamily="34" charset="0"/>
                <a:ea typeface="Calibri" pitchFamily="34" charset="-122"/>
                <a:cs typeface="Calibri" pitchFamily="34" charset="-120"/>
              </a:rPr>
              <a:t>Demo images are synthetic; accuracy on real media is not yet measured</a:t>
            </a:r>
            <a:endParaRPr lang="en-US" sz="1700" dirty="0"/>
          </a:p>
          <a:p>
            <a:pPr marL="342900" indent="-342900">
              <a:spcAft>
                <a:spcPts val="1400"/>
              </a:spcAft>
              <a:buSzPct val="100000"/>
              <a:buChar char="•"/>
            </a:pPr>
            <a:r>
              <a:rPr lang="en-US" sz="1700" dirty="0">
                <a:solidFill>
                  <a:srgbClr val="1B2730"/>
                </a:solidFill>
                <a:latin typeface="Calibri" pitchFamily="34" charset="0"/>
                <a:ea typeface="Calibri" pitchFamily="34" charset="-122"/>
                <a:cs typeface="Calibri" pitchFamily="34" charset="-120"/>
              </a:rPr>
              <a:t>Assumes 4 KiB clusters and files starting on cluster boundaries</a:t>
            </a:r>
            <a:endParaRPr lang="en-US" sz="1700" dirty="0"/>
          </a:p>
          <a:p>
            <a:pPr marL="342900" indent="-342900">
              <a:spcAft>
                <a:spcPts val="1400"/>
              </a:spcAft>
              <a:buSzPct val="100000"/>
              <a:buChar char="•"/>
            </a:pPr>
            <a:r>
              <a:rPr lang="en-US" sz="1700" dirty="0">
                <a:solidFill>
                  <a:srgbClr val="1B2730"/>
                </a:solidFill>
                <a:latin typeface="Calibri" pitchFamily="34" charset="0"/>
                <a:ea typeface="Calibri" pitchFamily="34" charset="-122"/>
                <a:cs typeface="Calibri" pitchFamily="34" charset="-120"/>
              </a:rPr>
              <a:t>Silent corruption in formats without checksums (PDF text, logs) cannot be detected</a:t>
            </a:r>
            <a:endParaRPr lang="en-US" sz="1700" dirty="0"/>
          </a:p>
          <a:p>
            <a:pPr marL="342900" indent="-342900">
              <a:spcAft>
                <a:spcPts val="1400"/>
              </a:spcAft>
              <a:buSzPct val="100000"/>
              <a:buChar char="•"/>
            </a:pPr>
            <a:r>
              <a:rPr lang="en-US" sz="1700" dirty="0">
                <a:solidFill>
                  <a:srgbClr val="1B2730"/>
                </a:solidFill>
                <a:latin typeface="Calibri" pitchFamily="34" charset="0"/>
                <a:ea typeface="Calibri" pitchFamily="34" charset="-122"/>
                <a:cs typeface="Calibri" pitchFamily="34" charset="-120"/>
              </a:rPr>
              <a:t>Compressed PDF streams and progressive JPEGs are validated, not rebuilt</a:t>
            </a:r>
            <a:endParaRPr lang="en-US" sz="1700" dirty="0"/>
          </a:p>
        </p:txBody>
      </p:sp>
      <p:sp>
        <p:nvSpPr>
          <p:cNvPr id="8" name="Shape 5"/>
          <p:cNvSpPr/>
          <p:nvPr/>
        </p:nvSpPr>
        <p:spPr>
          <a:xfrm>
            <a:off x="6199632" y="1371600"/>
            <a:ext cx="5440680" cy="4846320"/>
          </a:xfrm>
          <a:prstGeom prst="roundRect">
            <a:avLst>
              <a:gd name="adj" fmla="val 1509"/>
            </a:avLst>
          </a:prstGeom>
          <a:solidFill>
            <a:srgbClr val="DDF2EF"/>
          </a:solidFill>
          <a:ln w="12700">
            <a:solidFill>
              <a:srgbClr val="DDF2EF"/>
            </a:solidFill>
            <a:prstDash val="solid"/>
          </a:ln>
        </p:spPr>
      </p:sp>
      <p:sp>
        <p:nvSpPr>
          <p:cNvPr id="9" name="Shape 6"/>
          <p:cNvSpPr/>
          <p:nvPr/>
        </p:nvSpPr>
        <p:spPr>
          <a:xfrm>
            <a:off x="6473952" y="1645920"/>
            <a:ext cx="640080" cy="640080"/>
          </a:xfrm>
          <a:prstGeom prst="ellipse">
            <a:avLst/>
          </a:prstGeom>
          <a:solidFill>
            <a:srgbClr val="1FA99A"/>
          </a:solidFill>
          <a:ln w="12700">
            <a:solidFill>
              <a:srgbClr val="1FA99A"/>
            </a:solidFill>
            <a:prstDash val="solid"/>
          </a:ln>
        </p:spPr>
      </p:sp>
      <p:pic>
        <p:nvPicPr>
          <p:cNvPr id="10" name="Image 1" descr="preencoded.png">    </p:cNvPr>
          <p:cNvPicPr>
            <a:picLocks noChangeAspect="1"/>
          </p:cNvPicPr>
          <p:nvPr/>
        </p:nvPicPr>
        <p:blipFill>
          <a:blip r:embed="rId2"/>
          <a:stretch>
            <a:fillRect/>
          </a:stretch>
        </p:blipFill>
        <p:spPr>
          <a:xfrm>
            <a:off x="6633972" y="1805940"/>
            <a:ext cx="320040" cy="320040"/>
          </a:xfrm>
          <a:prstGeom prst="rect">
            <a:avLst/>
          </a:prstGeom>
        </p:spPr>
      </p:pic>
      <p:sp>
        <p:nvSpPr>
          <p:cNvPr id="11" name="Text 7"/>
          <p:cNvSpPr txBox="1"/>
          <p:nvPr/>
        </p:nvSpPr>
        <p:spPr>
          <a:xfrm>
            <a:off x="7251192" y="1737360"/>
            <a:ext cx="4114800" cy="457200"/>
          </a:xfrm>
          <a:prstGeom prst="rect">
            <a:avLst/>
          </a:prstGeom>
          <a:noFill/>
          <a:ln/>
        </p:spPr>
        <p:txBody>
          <a:bodyPr wrap="square" lIns="0" tIns="0" rIns="0" bIns="0" rtlCol="0" anchor="ctr"/>
          <a:lstStyle/>
          <a:p>
            <a:pPr indent="0" marL="0">
              <a:buNone/>
            </a:pPr>
            <a:r>
              <a:rPr lang="en-US" sz="1900" b="1" dirty="0">
                <a:solidFill>
                  <a:srgbClr val="0F3B4C"/>
                </a:solidFill>
                <a:latin typeface="Arial" pitchFamily="34" charset="0"/>
                <a:ea typeface="Arial" pitchFamily="34" charset="-122"/>
                <a:cs typeface="Arial" pitchFamily="34" charset="-120"/>
              </a:rPr>
              <a:t>Next steps</a:t>
            </a:r>
            <a:endParaRPr lang="en-US" sz="1900" dirty="0"/>
          </a:p>
        </p:txBody>
      </p:sp>
      <p:sp>
        <p:nvSpPr>
          <p:cNvPr id="12" name="Text 8"/>
          <p:cNvSpPr txBox="1"/>
          <p:nvPr/>
        </p:nvSpPr>
        <p:spPr>
          <a:xfrm>
            <a:off x="6473952" y="2560320"/>
            <a:ext cx="4937760" cy="347472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1B2730"/>
                </a:solidFill>
                <a:latin typeface="Calibri" pitchFamily="34" charset="0"/>
                <a:ea typeface="Calibri" pitchFamily="34" charset="-122"/>
                <a:cs typeface="Calibri" pitchFamily="34" charset="-120"/>
              </a:rPr>
              <a:t>File-system parsers: FAT, NTFS and ext4 allocation tables</a:t>
            </a:r>
            <a:endParaRPr lang="en-US" sz="1700" dirty="0"/>
          </a:p>
          <a:p>
            <a:pPr marL="342900" indent="-342900">
              <a:spcAft>
                <a:spcPts val="1400"/>
              </a:spcAft>
              <a:buSzPct val="100000"/>
              <a:buChar char="•"/>
            </a:pPr>
            <a:r>
              <a:rPr lang="en-US" sz="1700" dirty="0">
                <a:solidFill>
                  <a:srgbClr val="1B2730"/>
                </a:solidFill>
                <a:latin typeface="Calibri" pitchFamily="34" charset="0"/>
                <a:ea typeface="Calibri" pitchFamily="34" charset="-122"/>
                <a:cs typeface="Calibri" pitchFamily="34" charset="-120"/>
              </a:rPr>
              <a:t>More formats: MP4 reconstruction, PNG/GIF assembly</a:t>
            </a:r>
            <a:endParaRPr lang="en-US" sz="1700" dirty="0"/>
          </a:p>
          <a:p>
            <a:pPr marL="342900" indent="-342900">
              <a:spcAft>
                <a:spcPts val="1400"/>
              </a:spcAft>
              <a:buSzPct val="100000"/>
              <a:buChar char="•"/>
            </a:pPr>
            <a:r>
              <a:rPr lang="en-US" sz="1700" dirty="0">
                <a:solidFill>
                  <a:srgbClr val="1B2730"/>
                </a:solidFill>
                <a:latin typeface="Calibri" pitchFamily="34" charset="0"/>
                <a:ea typeface="Calibri" pitchFamily="34" charset="-122"/>
                <a:cs typeface="Calibri" pitchFamily="34" charset="-120"/>
              </a:rPr>
              <a:t>Validate on real (authorised) damaged media</a:t>
            </a:r>
            <a:endParaRPr lang="en-US" sz="1700" dirty="0"/>
          </a:p>
          <a:p>
            <a:pPr marL="342900" indent="-342900">
              <a:spcAft>
                <a:spcPts val="1400"/>
              </a:spcAft>
              <a:buSzPct val="100000"/>
              <a:buChar char="•"/>
            </a:pPr>
            <a:r>
              <a:rPr lang="en-US" sz="1700" dirty="0">
                <a:solidFill>
                  <a:srgbClr val="1B2730"/>
                </a:solidFill>
                <a:latin typeface="Calibri" pitchFamily="34" charset="0"/>
                <a:ea typeface="Calibri" pitchFamily="34" charset="-122"/>
                <a:cs typeface="Calibri" pitchFamily="34" charset="-120"/>
              </a:rPr>
              <a:t>Analyst feedback: confirmed or rejected links retrain the model</a:t>
            </a:r>
            <a:endParaRPr lang="en-US" sz="1700" dirty="0"/>
          </a:p>
          <a:p>
            <a:pPr marL="342900" indent="-342900">
              <a:spcAft>
                <a:spcPts val="1400"/>
              </a:spcAft>
              <a:buSzPct val="100000"/>
              <a:buChar char="•"/>
            </a:pPr>
            <a:r>
              <a:rPr lang="en-US" sz="1700" dirty="0">
                <a:solidFill>
                  <a:srgbClr val="1B2730"/>
                </a:solidFill>
                <a:latin typeface="Calibri" pitchFamily="34" charset="0"/>
                <a:ea typeface="Calibri" pitchFamily="34" charset="-122"/>
                <a:cs typeface="Calibri" pitchFamily="34" charset="-120"/>
              </a:rPr>
              <a:t>Production: job queue and PostgreSQL</a:t>
            </a:r>
            <a:endParaRPr lang="en-US" sz="1700" dirty="0"/>
          </a:p>
        </p:txBody>
      </p:sp>
      <p:sp>
        <p:nvSpPr>
          <p:cNvPr id="13" name="Text 9"/>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3B4C"/>
        </a:solidFill>
      </p:bgPr>
    </p:bg>
    <p:spTree>
      <p:nvGrpSpPr>
        <p:cNvPr id="1" name=""/>
        <p:cNvGrpSpPr/>
        <p:nvPr/>
      </p:nvGrpSpPr>
      <p:grpSpPr>
        <a:xfrm>
          <a:off x="0" y="0"/>
          <a:ext cx="0" cy="0"/>
          <a:chOff x="0" y="0"/>
          <a:chExt cx="0" cy="0"/>
        </a:xfrm>
      </p:grpSpPr>
      <p:sp>
        <p:nvSpPr>
          <p:cNvPr id="2" name="Text 0"/>
          <p:cNvSpPr txBox="1"/>
          <p:nvPr/>
        </p:nvSpPr>
        <p:spPr>
          <a:xfrm>
            <a:off x="731520" y="182880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
        <p:nvSpPr>
          <p:cNvPr id="3" name="Text 1"/>
          <p:cNvSpPr txBox="1"/>
          <p:nvPr/>
        </p:nvSpPr>
        <p:spPr>
          <a:xfrm>
            <a:off x="731520" y="2926080"/>
            <a:ext cx="10515600" cy="457200"/>
          </a:xfrm>
          <a:prstGeom prst="rect">
            <a:avLst/>
          </a:prstGeom>
          <a:noFill/>
          <a:ln/>
        </p:spPr>
        <p:txBody>
          <a:bodyPr wrap="square" lIns="0" tIns="0" rIns="0" bIns="0" rtlCol="0" anchor="ctr"/>
          <a:lstStyle/>
          <a:p>
            <a:pPr indent="0" marL="0">
              <a:buNone/>
            </a:pPr>
            <a:r>
              <a:rPr lang="en-US" sz="2000" i="1" dirty="0">
                <a:solidFill>
                  <a:srgbClr val="F29A2E"/>
                </a:solidFill>
                <a:latin typeface="Calibri" pitchFamily="34" charset="0"/>
                <a:ea typeface="Calibri" pitchFamily="34" charset="-122"/>
                <a:cs typeface="Calibri" pitchFamily="34" charset="-120"/>
              </a:rPr>
              <a:t>Recover what exists.  Infer relationships carefully.  Never invent evidence.</a:t>
            </a:r>
            <a:endParaRPr lang="en-US" sz="2000" dirty="0"/>
          </a:p>
        </p:txBody>
      </p:sp>
      <p:sp>
        <p:nvSpPr>
          <p:cNvPr id="4" name="Text 2"/>
          <p:cNvSpPr txBox="1"/>
          <p:nvPr/>
        </p:nvSpPr>
        <p:spPr>
          <a:xfrm>
            <a:off x="731520" y="3931920"/>
            <a:ext cx="10515600" cy="457200"/>
          </a:xfrm>
          <a:prstGeom prst="rect">
            <a:avLst/>
          </a:prstGeom>
          <a:noFill/>
          <a:ln/>
        </p:spPr>
        <p:txBody>
          <a:bodyPr wrap="square" lIns="0" tIns="0" rIns="0" bIns="0" rtlCol="0" anchor="ctr"/>
          <a:lstStyle/>
          <a:p>
            <a:pPr indent="0" marL="0">
              <a:buNone/>
            </a:pPr>
            <a:r>
              <a:rPr lang="en-US" sz="2200" dirty="0">
                <a:solidFill>
                  <a:srgbClr val="CFE7E4"/>
                </a:solidFill>
                <a:latin typeface="Calibri" pitchFamily="34" charset="0"/>
                <a:ea typeface="Calibri" pitchFamily="34" charset="-122"/>
                <a:cs typeface="Calibri" pitchFamily="34" charset="-120"/>
              </a:rPr>
              <a:t>Questions and live demo</a:t>
            </a:r>
            <a:endParaRPr lang="en-US" sz="2200" dirty="0"/>
          </a:p>
        </p:txBody>
      </p:sp>
      <p:sp>
        <p:nvSpPr>
          <p:cNvPr id="5" name="Text 3"/>
          <p:cNvSpPr txBox="1"/>
          <p:nvPr/>
        </p:nvSpPr>
        <p:spPr>
          <a:xfrm>
            <a:off x="731520" y="5852160"/>
            <a:ext cx="10515600" cy="365760"/>
          </a:xfrm>
          <a:prstGeom prst="rect">
            <a:avLst/>
          </a:prstGeom>
          <a:noFill/>
          <a:ln/>
        </p:spPr>
        <p:txBody>
          <a:bodyPr wrap="square" lIns="0" tIns="0" rIns="0" bIns="0" rtlCol="0" anchor="ctr"/>
          <a:lstStyle/>
          <a:p>
            <a:pPr indent="0" marL="0">
              <a:buNone/>
            </a:pPr>
            <a:r>
              <a:rPr lang="en-US" sz="1400" dirty="0">
                <a:solidFill>
                  <a:srgbClr val="A9C7CC"/>
                </a:solidFill>
                <a:latin typeface="Calibri" pitchFamily="34" charset="0"/>
                <a:ea typeface="Calibri" pitchFamily="34" charset="-122"/>
                <a:cs typeface="Calibri" pitchFamily="34" charset="-120"/>
              </a:rPr>
              <a:t>Run locally: setup.cmd, then start-dev.cmd  →  http://localhost:5173</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RecoveryLens – project review</dc:title>
  <dc:subject>PptxGenJS Presentation</dc:subject>
  <dc:creator>PptxGenJS</dc:creator>
  <cp:lastModifiedBy>PptxGenJS</cp:lastModifiedBy>
  <cp:revision>1</cp:revision>
  <dcterms:created xsi:type="dcterms:W3CDTF">2026-09-25T15:01:44Z</dcterms:created>
  <dcterms:modified xsi:type="dcterms:W3CDTF">2026-09-25T15:01:44Z</dcterms:modified>
</cp:coreProperties>
</file>